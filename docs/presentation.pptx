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Calibri"/>
              </a:defRPr>
            </a:pPr>
            <a:r>
              <a:rPr sz="1400" b="0" i="0" u="none" strike="noStrike">
                <a:solidFill>
                  <a:srgbClr val="E6EDF3"/>
                </a:solidFill>
                <a:latin typeface="Calibri"/>
              </a:rPr>
              <a:t>First critique score per run</a:t>
            </a:r>
          </a:p>
        </c:rich>
      </c:tx>
      <c:layout/>
      <c:overlay val="0"/>
    </c:title>
    <c:autoTitleDeleted val="0"/>
    <c:plotArea>
      <c:layout/>
      <c:barChart>
        <c:barDir val="col"/>
        <c:grouping val="clustered"/>
        <c:varyColors val="0"/>
        <c:ser>
          <c:idx val="0"/>
          <c:order val="0"/>
          <c:tx>
            <c:strRef>
              <c:f>Sheet1!$B$1</c:f>
              <c:strCache>
                <c:ptCount val="1"/>
                <c:pt idx="0">
                  <c:v>First critique</c:v>
                </c:pt>
              </c:strCache>
            </c:strRef>
          </c:tx>
          <c:spPr>
            <a:solidFill>
              <a:srgbClr val="3DDC97"/>
            </a:solidFill>
            <a:effectLst/>
          </c:spPr>
          <c:invertIfNegative val="0"/>
          <c:dLbls>
            <c:numFmt formatCode="#,##0" sourceLinked="0"/>
            <c:txPr>
              <a:bodyPr/>
              <a:lstStyle/>
              <a:p>
                <a:pPr>
                  <a:defRPr b="0" i="0" strike="noStrike" sz="1200" u="none">
                    <a:solidFill>
                      <a:srgbClr val="E6EDF3"/>
                    </a:solidFill>
                    <a:latin typeface="Arial"/>
                  </a:defRPr>
                </a:pPr>
              </a:p>
            </c:txPr>
            <c:showLegendKey val="0"/>
            <c:showVal val="1"/>
            <c:showCatName val="0"/>
            <c:showSerName val="0"/>
            <c:showPercent val="0"/>
            <c:showBubbleSize val="0"/>
            <c:showLeaderLines val="0"/>
          </c:dLbls>
          <c:cat>
            <c:multiLvlStrRef>
              <c:f>Sheet1!$A$2:$A$5</c:f>
              <c:multiLvlStrCache>
                <c:ptCount val="4"/>
                <c:lvl>
                  <c:pt idx="0">
                    <c:v>#1</c:v>
                  </c:pt>
                  <c:pt idx="1">
                    <c:v>#2</c:v>
                  </c:pt>
                  <c:pt idx="2">
                    <c:v>#3</c:v>
                  </c:pt>
                  <c:pt idx="3">
                    <c:v>#4</c:v>
                  </c:pt>
                </c:lvl>
              </c:multiLvlStrCache>
            </c:multiLvlStrRef>
          </c:cat>
          <c:val>
            <c:numRef>
              <c:f>Sheet1!$B$2:$B$5</c:f>
              <c:numCache>
                <c:formatCode>General</c:formatCode>
                <c:ptCount val="4"/>
                <c:pt idx="0">
                  <c:v>3</c:v>
                </c:pt>
                <c:pt idx="1">
                  <c:v>6</c:v>
                </c:pt>
                <c:pt idx="2">
                  <c:v>4</c:v>
                </c:pt>
                <c:pt idx="3">
                  <c:v>9</c:v>
                </c:pt>
              </c:numCache>
            </c:numRef>
          </c:val>
        </c:ser>
        <c:dLbls>
          <c:numFmt formatCode="#,##0" sourceLinked="0"/>
          <c:txPr>
            <a:bodyPr/>
            <a:lstStyle/>
            <a:p>
              <a:pPr>
                <a:defRPr b="0" i="0" strike="noStrike" sz="1200" u="none">
                  <a:solidFill>
                    <a:srgbClr val="E6EDF3"/>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8B98A9"/>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6350" cap="flat">
              <a:solidFill>
                <a:srgbClr val="2A334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8B98A9"/>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a report is easy for an LLM. Getting every number right is not. These four errors are real, from my own development runs, and each one became a test case. So the design goal was verification and memory, not prettier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LangGraph with one shared state. The planner splits the task; each step is a ReAct loop with real tools: web search (Tavily, DuckDuckGo fallback), fetch page (renders JavaScript, returns focused passages) and a calculator. Then two layers of review: a deterministic check that looks up every number in its cited source, and a 120B critic that also checks the task's constraints. The critic can send the report back to the writer or send the agent back to research with fix-up steps, at most two revisions. Reflect writes lessons and source trust to SQLite; recall reads them before the next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runs in a row on the same task family (Pinecone storage cost), with nothing changed but the memory and two code fixes to how memory is used. The first run needed a revision because it trusted blogs. By the fourth run, the recalled lesson changed the plan itself: step one fetched the official page, the first draft passed at 9/10, and it cost about half the tokens. Example lesson: 'When a task requires a vendor's official pricing page, fetch that page first and extract the exact per-unit rate and minimum commitment from it, never relying on third-party snippets for the calculation.' Run #3 is shown on purpose: it failed, and fixing it is part of the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UI is built from the same event stream as the CLI, so what you see is exactly what the agent did. Replay mode exists because free quotas run out; it plays back real recorded runs, including the before and after runs from the previous slide. The critic is tested separately on fixed inputs that reproduce each real failure, so the result doesn't depend on a live run happening to make the mistake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on free tiers, which shaped the design: the fallback chain, the token saver, the replay mode. I want to be clear about the limits: the improvement is shown on one task family. The mechanism is general; the proof is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asad-research-agent.streamlit.app/" TargetMode="External"/><Relationship Id="rId2" Type="http://schemas.openxmlformats.org/officeDocument/2006/relationships/hyperlink" Target="https://github.com/shaikasadahmed2k23/self-improving-research-agent_Submission"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320040"/>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SELF-IMPROVING RESEARCH AGENT  ·  TECHVRUK AI AGENTIC SYSTEM CHALLENGE 2026</a:t>
            </a:r>
            <a:endParaRPr lang="en-US" sz="13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E6EDF3"/>
                </a:solidFill>
                <a:latin typeface="Arial" pitchFamily="34" charset="0"/>
                <a:ea typeface="Arial" pitchFamily="34" charset="-122"/>
                <a:cs typeface="Arial" pitchFamily="34" charset="-120"/>
              </a:rPr>
              <a:t>Confident reports, wrong details</a:t>
            </a:r>
            <a:endParaRPr lang="en-US" sz="3000" dirty="0"/>
          </a:p>
        </p:txBody>
      </p:sp>
      <p:sp>
        <p:nvSpPr>
          <p:cNvPr id="4" name="Text 2"/>
          <p:cNvSpPr txBox="1"/>
          <p:nvPr/>
        </p:nvSpPr>
        <p:spPr>
          <a:xfrm>
            <a:off x="548640" y="1417320"/>
            <a:ext cx="5669280" cy="640080"/>
          </a:xfrm>
          <a:prstGeom prst="rect">
            <a:avLst/>
          </a:prstGeom>
          <a:noFill/>
          <a:ln/>
        </p:spPr>
        <p:txBody>
          <a:bodyPr wrap="square" lIns="0" tIns="0" rIns="0" bIns="0" rtlCol="0" anchor="ctr"/>
          <a:lstStyle/>
          <a:p>
            <a:pPr indent="0" marL="0">
              <a:buNone/>
            </a:pPr>
            <a:r>
              <a:rPr lang="en-US" sz="1600" dirty="0">
                <a:solidFill>
                  <a:srgbClr val="8B98A9"/>
                </a:solidFill>
                <a:latin typeface="Calibri" pitchFamily="34" charset="0"/>
                <a:ea typeface="Calibri" pitchFamily="34" charset="-122"/>
                <a:cs typeface="Calibri" pitchFamily="34" charset="-120"/>
              </a:rPr>
              <a:t>A research agent: ask a question, get a short report with citations. These are real failures from early runs of this project:</a:t>
            </a:r>
            <a:endParaRPr lang="en-US" sz="1600" dirty="0"/>
          </a:p>
        </p:txBody>
      </p:sp>
      <p:sp>
        <p:nvSpPr>
          <p:cNvPr id="5" name="Shape 3"/>
          <p:cNvSpPr/>
          <p:nvPr/>
        </p:nvSpPr>
        <p:spPr>
          <a:xfrm>
            <a:off x="548640" y="2194560"/>
            <a:ext cx="5669280" cy="777240"/>
          </a:xfrm>
          <a:prstGeom prst="roundRect">
            <a:avLst>
              <a:gd name="adj" fmla="val 14118"/>
            </a:avLst>
          </a:prstGeom>
          <a:solidFill>
            <a:srgbClr val="161B26"/>
          </a:solidFill>
          <a:ln w="12700">
            <a:solidFill>
              <a:srgbClr val="2A3345"/>
            </a:solidFill>
            <a:prstDash val="solid"/>
          </a:ln>
        </p:spPr>
      </p:sp>
      <p:sp>
        <p:nvSpPr>
          <p:cNvPr id="6" name="Shape 4"/>
          <p:cNvSpPr/>
          <p:nvPr/>
        </p:nvSpPr>
        <p:spPr>
          <a:xfrm>
            <a:off x="749808" y="2386584"/>
            <a:ext cx="384048" cy="384048"/>
          </a:xfrm>
          <a:prstGeom prst="ellipse">
            <a:avLst/>
          </a:prstGeom>
          <a:solidFill>
            <a:srgbClr val="FF6B6B"/>
          </a:solidFill>
          <a:ln/>
        </p:spPr>
      </p:sp>
      <p:sp>
        <p:nvSpPr>
          <p:cNvPr id="7" name="Text 5"/>
          <p:cNvSpPr txBox="1"/>
          <p:nvPr/>
        </p:nvSpPr>
        <p:spPr>
          <a:xfrm>
            <a:off x="749808" y="2386584"/>
            <a:ext cx="384048" cy="384048"/>
          </a:xfrm>
          <a:prstGeom prst="rect">
            <a:avLst/>
          </a:prstGeom>
          <a:noFill/>
          <a:ln/>
        </p:spPr>
        <p:txBody>
          <a:bodyPr wrap="square" lIns="0" tIns="0" rIns="0" bIns="0" rtlCol="0" anchor="ctr"/>
          <a:lstStyle/>
          <a:p>
            <a:pPr algn="ctr" indent="0" marL="0">
              <a:buNone/>
            </a:pPr>
            <a:r>
              <a:rPr lang="en-US" sz="1400" b="1" dirty="0">
                <a:solidFill>
                  <a:srgbClr val="0E1117"/>
                </a:solidFill>
                <a:latin typeface="Arial" pitchFamily="34" charset="0"/>
                <a:ea typeface="Arial" pitchFamily="34" charset="-122"/>
                <a:cs typeface="Arial" pitchFamily="34" charset="-120"/>
              </a:rPr>
              <a:t>✗</a:t>
            </a:r>
            <a:endParaRPr lang="en-US" sz="1400" dirty="0"/>
          </a:p>
        </p:txBody>
      </p:sp>
      <p:sp>
        <p:nvSpPr>
          <p:cNvPr id="8" name="Text 6"/>
          <p:cNvSpPr txBox="1"/>
          <p:nvPr/>
        </p:nvSpPr>
        <p:spPr>
          <a:xfrm>
            <a:off x="1325880" y="2267712"/>
            <a:ext cx="4754880" cy="64008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Wrong source</a:t>
            </a:r>
            <a:endParaRPr lang="en-US" sz="1600" dirty="0"/>
          </a:p>
          <a:p>
            <a:pPr indent="0" marL="0">
              <a:buNone/>
            </a:pPr>
            <a:r>
              <a:rPr lang="en-US" sz="1300" dirty="0">
                <a:solidFill>
                  <a:srgbClr val="8B98A9"/>
                </a:solidFill>
                <a:latin typeface="Calibri" pitchFamily="34" charset="0"/>
                <a:ea typeface="Calibri" pitchFamily="34" charset="-122"/>
                <a:cs typeface="Calibri" pitchFamily="34" charset="-120"/>
              </a:rPr>
              <a:t>Price copied from a third-party blog when the task said "official page"</a:t>
            </a:r>
            <a:endParaRPr lang="en-US" sz="1600" dirty="0"/>
          </a:p>
        </p:txBody>
      </p:sp>
      <p:sp>
        <p:nvSpPr>
          <p:cNvPr id="9" name="Shape 7"/>
          <p:cNvSpPr/>
          <p:nvPr/>
        </p:nvSpPr>
        <p:spPr>
          <a:xfrm>
            <a:off x="548640" y="3108960"/>
            <a:ext cx="5669280" cy="777240"/>
          </a:xfrm>
          <a:prstGeom prst="roundRect">
            <a:avLst>
              <a:gd name="adj" fmla="val 14118"/>
            </a:avLst>
          </a:prstGeom>
          <a:solidFill>
            <a:srgbClr val="161B26"/>
          </a:solidFill>
          <a:ln w="12700">
            <a:solidFill>
              <a:srgbClr val="2A3345"/>
            </a:solidFill>
            <a:prstDash val="solid"/>
          </a:ln>
        </p:spPr>
      </p:sp>
      <p:sp>
        <p:nvSpPr>
          <p:cNvPr id="10" name="Shape 8"/>
          <p:cNvSpPr/>
          <p:nvPr/>
        </p:nvSpPr>
        <p:spPr>
          <a:xfrm>
            <a:off x="749808" y="3300984"/>
            <a:ext cx="384048" cy="384048"/>
          </a:xfrm>
          <a:prstGeom prst="ellipse">
            <a:avLst/>
          </a:prstGeom>
          <a:solidFill>
            <a:srgbClr val="FF6B6B"/>
          </a:solidFill>
          <a:ln/>
        </p:spPr>
      </p:sp>
      <p:sp>
        <p:nvSpPr>
          <p:cNvPr id="11" name="Text 9"/>
          <p:cNvSpPr txBox="1"/>
          <p:nvPr/>
        </p:nvSpPr>
        <p:spPr>
          <a:xfrm>
            <a:off x="749808" y="3300984"/>
            <a:ext cx="384048" cy="384048"/>
          </a:xfrm>
          <a:prstGeom prst="rect">
            <a:avLst/>
          </a:prstGeom>
          <a:noFill/>
          <a:ln/>
        </p:spPr>
        <p:txBody>
          <a:bodyPr wrap="square" lIns="0" tIns="0" rIns="0" bIns="0" rtlCol="0" anchor="ctr"/>
          <a:lstStyle/>
          <a:p>
            <a:pPr algn="ctr" indent="0" marL="0">
              <a:buNone/>
            </a:pPr>
            <a:r>
              <a:rPr lang="en-US" sz="1400" b="1" dirty="0">
                <a:solidFill>
                  <a:srgbClr val="0E1117"/>
                </a:solidFill>
                <a:latin typeface="Arial" pitchFamily="34" charset="0"/>
                <a:ea typeface="Arial" pitchFamily="34" charset="-122"/>
                <a:cs typeface="Arial" pitchFamily="34" charset="-120"/>
              </a:rPr>
              <a:t>✗</a:t>
            </a:r>
            <a:endParaRPr lang="en-US" sz="1400" dirty="0"/>
          </a:p>
        </p:txBody>
      </p:sp>
      <p:sp>
        <p:nvSpPr>
          <p:cNvPr id="12" name="Text 10"/>
          <p:cNvSpPr txBox="1"/>
          <p:nvPr/>
        </p:nvSpPr>
        <p:spPr>
          <a:xfrm>
            <a:off x="1325880" y="3182112"/>
            <a:ext cx="4754880" cy="64008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Mental arithmetic</a:t>
            </a:r>
            <a:endParaRPr lang="en-US" sz="1600" dirty="0"/>
          </a:p>
          <a:p>
            <a:pPr indent="0" marL="0">
              <a:buNone/>
            </a:pPr>
            <a:r>
              <a:rPr lang="en-US" sz="1300" dirty="0">
                <a:solidFill>
                  <a:srgbClr val="8B98A9"/>
                </a:solidFill>
                <a:latin typeface="Calibri" pitchFamily="34" charset="0"/>
                <a:ea typeface="Calibri" pitchFamily="34" charset="-122"/>
                <a:cs typeface="Calibri" pitchFamily="34" charset="-120"/>
              </a:rPr>
              <a:t>10 × $0.33 written as $3.33</a:t>
            </a:r>
            <a:endParaRPr lang="en-US" sz="1600" dirty="0"/>
          </a:p>
        </p:txBody>
      </p:sp>
      <p:sp>
        <p:nvSpPr>
          <p:cNvPr id="13" name="Shape 11"/>
          <p:cNvSpPr/>
          <p:nvPr/>
        </p:nvSpPr>
        <p:spPr>
          <a:xfrm>
            <a:off x="548640" y="4023360"/>
            <a:ext cx="5669280" cy="777240"/>
          </a:xfrm>
          <a:prstGeom prst="roundRect">
            <a:avLst>
              <a:gd name="adj" fmla="val 14118"/>
            </a:avLst>
          </a:prstGeom>
          <a:solidFill>
            <a:srgbClr val="161B26"/>
          </a:solidFill>
          <a:ln w="12700">
            <a:solidFill>
              <a:srgbClr val="2A3345"/>
            </a:solidFill>
            <a:prstDash val="solid"/>
          </a:ln>
        </p:spPr>
      </p:sp>
      <p:sp>
        <p:nvSpPr>
          <p:cNvPr id="14" name="Shape 12"/>
          <p:cNvSpPr/>
          <p:nvPr/>
        </p:nvSpPr>
        <p:spPr>
          <a:xfrm>
            <a:off x="749808" y="4215384"/>
            <a:ext cx="384048" cy="384048"/>
          </a:xfrm>
          <a:prstGeom prst="ellipse">
            <a:avLst/>
          </a:prstGeom>
          <a:solidFill>
            <a:srgbClr val="FF6B6B"/>
          </a:solidFill>
          <a:ln/>
        </p:spPr>
      </p:sp>
      <p:sp>
        <p:nvSpPr>
          <p:cNvPr id="15" name="Text 13"/>
          <p:cNvSpPr txBox="1"/>
          <p:nvPr/>
        </p:nvSpPr>
        <p:spPr>
          <a:xfrm>
            <a:off x="749808" y="4215384"/>
            <a:ext cx="384048" cy="384048"/>
          </a:xfrm>
          <a:prstGeom prst="rect">
            <a:avLst/>
          </a:prstGeom>
          <a:noFill/>
          <a:ln/>
        </p:spPr>
        <p:txBody>
          <a:bodyPr wrap="square" lIns="0" tIns="0" rIns="0" bIns="0" rtlCol="0" anchor="ctr"/>
          <a:lstStyle/>
          <a:p>
            <a:pPr algn="ctr" indent="0" marL="0">
              <a:buNone/>
            </a:pPr>
            <a:r>
              <a:rPr lang="en-US" sz="1400" b="1" dirty="0">
                <a:solidFill>
                  <a:srgbClr val="0E1117"/>
                </a:solidFill>
                <a:latin typeface="Arial" pitchFamily="34" charset="0"/>
                <a:ea typeface="Arial" pitchFamily="34" charset="-122"/>
                <a:cs typeface="Arial" pitchFamily="34" charset="-120"/>
              </a:rPr>
              <a:t>✗</a:t>
            </a:r>
            <a:endParaRPr lang="en-US" sz="1400" dirty="0"/>
          </a:p>
        </p:txBody>
      </p:sp>
      <p:sp>
        <p:nvSpPr>
          <p:cNvPr id="16" name="Text 14"/>
          <p:cNvSpPr txBox="1"/>
          <p:nvPr/>
        </p:nvSpPr>
        <p:spPr>
          <a:xfrm>
            <a:off x="1325880" y="4096512"/>
            <a:ext cx="4754880" cy="64008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Misattributed citation</a:t>
            </a:r>
            <a:endParaRPr lang="en-US" sz="1600" dirty="0"/>
          </a:p>
          <a:p>
            <a:pPr indent="0" marL="0">
              <a:buNone/>
            </a:pPr>
            <a:r>
              <a:rPr lang="en-US" sz="1300" dirty="0">
                <a:solidFill>
                  <a:srgbClr val="8B98A9"/>
                </a:solidFill>
                <a:latin typeface="Calibri" pitchFamily="34" charset="0"/>
                <a:ea typeface="Calibri" pitchFamily="34" charset="-122"/>
                <a:cs typeface="Calibri" pitchFamily="34" charset="-120"/>
              </a:rPr>
              <a:t>A number cited to a source that does not contain it</a:t>
            </a:r>
            <a:endParaRPr lang="en-US" sz="1600" dirty="0"/>
          </a:p>
        </p:txBody>
      </p:sp>
      <p:sp>
        <p:nvSpPr>
          <p:cNvPr id="17" name="Shape 15"/>
          <p:cNvSpPr/>
          <p:nvPr/>
        </p:nvSpPr>
        <p:spPr>
          <a:xfrm>
            <a:off x="548640" y="4937760"/>
            <a:ext cx="5669280" cy="777240"/>
          </a:xfrm>
          <a:prstGeom prst="roundRect">
            <a:avLst>
              <a:gd name="adj" fmla="val 14118"/>
            </a:avLst>
          </a:prstGeom>
          <a:solidFill>
            <a:srgbClr val="161B26"/>
          </a:solidFill>
          <a:ln w="12700">
            <a:solidFill>
              <a:srgbClr val="2A3345"/>
            </a:solidFill>
            <a:prstDash val="solid"/>
          </a:ln>
        </p:spPr>
      </p:sp>
      <p:sp>
        <p:nvSpPr>
          <p:cNvPr id="18" name="Shape 16"/>
          <p:cNvSpPr/>
          <p:nvPr/>
        </p:nvSpPr>
        <p:spPr>
          <a:xfrm>
            <a:off x="749808" y="5129784"/>
            <a:ext cx="384048" cy="384048"/>
          </a:xfrm>
          <a:prstGeom prst="ellipse">
            <a:avLst/>
          </a:prstGeom>
          <a:solidFill>
            <a:srgbClr val="FF6B6B"/>
          </a:solidFill>
          <a:ln/>
        </p:spPr>
      </p:sp>
      <p:sp>
        <p:nvSpPr>
          <p:cNvPr id="19" name="Text 17"/>
          <p:cNvSpPr txBox="1"/>
          <p:nvPr/>
        </p:nvSpPr>
        <p:spPr>
          <a:xfrm>
            <a:off x="749808" y="5129784"/>
            <a:ext cx="384048" cy="384048"/>
          </a:xfrm>
          <a:prstGeom prst="rect">
            <a:avLst/>
          </a:prstGeom>
          <a:noFill/>
          <a:ln/>
        </p:spPr>
        <p:txBody>
          <a:bodyPr wrap="square" lIns="0" tIns="0" rIns="0" bIns="0" rtlCol="0" anchor="ctr"/>
          <a:lstStyle/>
          <a:p>
            <a:pPr algn="ctr" indent="0" marL="0">
              <a:buNone/>
            </a:pPr>
            <a:r>
              <a:rPr lang="en-US" sz="1400" b="1" dirty="0">
                <a:solidFill>
                  <a:srgbClr val="0E1117"/>
                </a:solidFill>
                <a:latin typeface="Arial" pitchFamily="34" charset="0"/>
                <a:ea typeface="Arial" pitchFamily="34" charset="-122"/>
                <a:cs typeface="Arial" pitchFamily="34" charset="-120"/>
              </a:rPr>
              <a:t>✗</a:t>
            </a:r>
            <a:endParaRPr lang="en-US" sz="1400" dirty="0"/>
          </a:p>
        </p:txBody>
      </p:sp>
      <p:sp>
        <p:nvSpPr>
          <p:cNvPr id="20" name="Text 18"/>
          <p:cNvSpPr txBox="1"/>
          <p:nvPr/>
        </p:nvSpPr>
        <p:spPr>
          <a:xfrm>
            <a:off x="1325880" y="5010912"/>
            <a:ext cx="4754880" cy="64008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Unit mix-up</a:t>
            </a:r>
            <a:endParaRPr lang="en-US" sz="1600" dirty="0"/>
          </a:p>
          <a:p>
            <a:pPr indent="0" marL="0">
              <a:buNone/>
            </a:pPr>
            <a:r>
              <a:rPr lang="en-US" sz="1300" dirty="0">
                <a:solidFill>
                  <a:srgbClr val="8B98A9"/>
                </a:solidFill>
                <a:latin typeface="Calibri" pitchFamily="34" charset="0"/>
                <a:ea typeface="Calibri" pitchFamily="34" charset="-122"/>
                <a:cs typeface="Calibri" pitchFamily="34" charset="-120"/>
              </a:rPr>
              <a:t>"$0.095 per 1M dimensions" shown as "per GB-month"</a:t>
            </a:r>
            <a:endParaRPr lang="en-US" sz="1600" dirty="0"/>
          </a:p>
        </p:txBody>
      </p:sp>
      <p:sp>
        <p:nvSpPr>
          <p:cNvPr id="21" name="Shape 19"/>
          <p:cNvSpPr/>
          <p:nvPr/>
        </p:nvSpPr>
        <p:spPr>
          <a:xfrm>
            <a:off x="6675120" y="1417320"/>
            <a:ext cx="4967935" cy="3291840"/>
          </a:xfrm>
          <a:prstGeom prst="roundRect">
            <a:avLst>
              <a:gd name="adj" fmla="val 3333"/>
            </a:avLst>
          </a:prstGeom>
          <a:solidFill>
            <a:srgbClr val="1C2332"/>
          </a:solidFill>
          <a:ln w="12700">
            <a:solidFill>
              <a:srgbClr val="2A3345"/>
            </a:solidFill>
            <a:prstDash val="solid"/>
          </a:ln>
        </p:spPr>
      </p:sp>
      <p:sp>
        <p:nvSpPr>
          <p:cNvPr id="22" name="Text 20"/>
          <p:cNvSpPr txBox="1"/>
          <p:nvPr/>
        </p:nvSpPr>
        <p:spPr>
          <a:xfrm>
            <a:off x="6949440" y="1572768"/>
            <a:ext cx="4419295" cy="274320"/>
          </a:xfrm>
          <a:prstGeom prst="rect">
            <a:avLst/>
          </a:prstGeom>
          <a:noFill/>
          <a:ln/>
        </p:spPr>
        <p:txBody>
          <a:bodyPr wrap="square" lIns="0" tIns="0" rIns="0" bIns="0" rtlCol="0" anchor="ctr"/>
          <a:lstStyle/>
          <a:p>
            <a:pPr indent="0" marL="0">
              <a:buNone/>
            </a:pPr>
            <a:r>
              <a:rPr lang="en-US" sz="1200" b="1" dirty="0">
                <a:solidFill>
                  <a:srgbClr val="8B98A9"/>
                </a:solidFill>
                <a:latin typeface="Calibri" pitchFamily="34" charset="0"/>
                <a:ea typeface="Calibri" pitchFamily="34" charset="-122"/>
                <a:cs typeface="Calibri" pitchFamily="34" charset="-120"/>
              </a:rPr>
              <a:t>Run #1, first draft</a:t>
            </a:r>
            <a:endParaRPr lang="en-US" sz="1200" dirty="0"/>
          </a:p>
        </p:txBody>
      </p:sp>
      <p:sp>
        <p:nvSpPr>
          <p:cNvPr id="23" name="Text 21"/>
          <p:cNvSpPr txBox="1"/>
          <p:nvPr/>
        </p:nvSpPr>
        <p:spPr>
          <a:xfrm>
            <a:off x="6949440" y="1920240"/>
            <a:ext cx="4419295" cy="731520"/>
          </a:xfrm>
          <a:prstGeom prst="rect">
            <a:avLst/>
          </a:prstGeom>
          <a:noFill/>
          <a:ln/>
        </p:spPr>
        <p:txBody>
          <a:bodyPr wrap="square" lIns="0" tIns="0" rIns="0" bIns="0" rtlCol="0" anchor="ctr"/>
          <a:lstStyle/>
          <a:p>
            <a:pPr indent="0" marL="0">
              <a:buNone/>
            </a:pPr>
            <a:r>
              <a:rPr lang="en-US" sz="1700" dirty="0">
                <a:solidFill>
                  <a:srgbClr val="E6EDF3"/>
                </a:solidFill>
                <a:latin typeface="Calibri" pitchFamily="34" charset="0"/>
                <a:ea typeface="Calibri" pitchFamily="34" charset="-122"/>
                <a:cs typeface="Calibri" pitchFamily="34" charset="-120"/>
              </a:rPr>
              <a:t>Calculation for 10 GB: 10 GB × $0.33/GB = </a:t>
            </a:r>
            <a:pPr indent="0" marL="0">
              <a:buNone/>
            </a:pPr>
            <a:r>
              <a:rPr lang="en-US" sz="1700" b="1" dirty="0">
                <a:solidFill>
                  <a:srgbClr val="FF6B6B"/>
                </a:solidFill>
                <a:latin typeface="Calibri" pitchFamily="34" charset="0"/>
                <a:ea typeface="Calibri" pitchFamily="34" charset="-122"/>
                <a:cs typeface="Calibri" pitchFamily="34" charset="-120"/>
              </a:rPr>
              <a:t>$3.33 per month</a:t>
            </a:r>
            <a:pPr indent="0" marL="0">
              <a:buNone/>
            </a:pPr>
            <a:r>
              <a:rPr lang="en-US" sz="1700" dirty="0">
                <a:solidFill>
                  <a:srgbClr val="7AA2F7"/>
                </a:solidFill>
                <a:latin typeface="Calibri" pitchFamily="34" charset="0"/>
                <a:ea typeface="Calibri" pitchFamily="34" charset="-122"/>
                <a:cs typeface="Calibri" pitchFamily="34" charset="-120"/>
              </a:rPr>
              <a:t> [1][2][3]</a:t>
            </a:r>
            <a:endParaRPr lang="en-US" sz="1700" dirty="0"/>
          </a:p>
        </p:txBody>
      </p:sp>
      <p:sp>
        <p:nvSpPr>
          <p:cNvPr id="24" name="Text 22"/>
          <p:cNvSpPr txBox="1"/>
          <p:nvPr/>
        </p:nvSpPr>
        <p:spPr>
          <a:xfrm>
            <a:off x="6949440" y="2743200"/>
            <a:ext cx="4419295" cy="274320"/>
          </a:xfrm>
          <a:prstGeom prst="rect">
            <a:avLst/>
          </a:prstGeom>
          <a:noFill/>
          <a:ln/>
        </p:spPr>
        <p:txBody>
          <a:bodyPr wrap="square" lIns="0" tIns="0" rIns="0" bIns="0" rtlCol="0" anchor="ctr"/>
          <a:lstStyle/>
          <a:p>
            <a:pPr indent="0" marL="0">
              <a:buNone/>
            </a:pPr>
            <a:r>
              <a:rPr lang="en-US" sz="1200" b="1" dirty="0">
                <a:solidFill>
                  <a:srgbClr val="F5B83D"/>
                </a:solidFill>
                <a:latin typeface="Calibri" pitchFamily="34" charset="0"/>
                <a:ea typeface="Calibri" pitchFamily="34" charset="-122"/>
                <a:cs typeface="Calibri" pitchFamily="34" charset="-120"/>
              </a:rPr>
              <a:t>citation check</a:t>
            </a:r>
            <a:endParaRPr lang="en-US" sz="1200" dirty="0"/>
          </a:p>
        </p:txBody>
      </p:sp>
      <p:sp>
        <p:nvSpPr>
          <p:cNvPr id="25" name="Text 23"/>
          <p:cNvSpPr txBox="1"/>
          <p:nvPr/>
        </p:nvSpPr>
        <p:spPr>
          <a:xfrm>
            <a:off x="6949440" y="3035808"/>
            <a:ext cx="4419295" cy="685800"/>
          </a:xfrm>
          <a:prstGeom prst="rect">
            <a:avLst/>
          </a:prstGeom>
          <a:noFill/>
          <a:ln/>
        </p:spPr>
        <p:txBody>
          <a:bodyPr wrap="square" lIns="0" tIns="0" rIns="0" bIns="0" rtlCol="0" anchor="ctr"/>
          <a:lstStyle/>
          <a:p>
            <a:pPr indent="0" marL="0">
              <a:buNone/>
            </a:pPr>
            <a:r>
              <a:rPr lang="en-US" sz="1100" dirty="0">
                <a:solidFill>
                  <a:srgbClr val="F5B83D"/>
                </a:solidFill>
                <a:latin typeface="Courier New" pitchFamily="34" charset="0"/>
                <a:ea typeface="Courier New" pitchFamily="34" charset="-122"/>
                <a:cs typeface="Courier New" pitchFamily="34" charset="-120"/>
              </a:rPr>
              <a:t>FAIL not_in_source: $3.33 cited [1, 2, 3]</a:t>
            </a:r>
            <a:endParaRPr lang="en-US" sz="1100" dirty="0"/>
          </a:p>
          <a:p>
            <a:pPr indent="0" marL="0">
              <a:buNone/>
            </a:pPr>
            <a:r>
              <a:rPr lang="en-US" sz="1100" dirty="0">
                <a:solidFill>
                  <a:srgbClr val="F5B83D"/>
                </a:solidFill>
                <a:latin typeface="Courier New" pitchFamily="34" charset="0"/>
                <a:ea typeface="Courier New" pitchFamily="34" charset="-122"/>
                <a:cs typeface="Courier New" pitchFamily="34" charset="-120"/>
              </a:rPr>
              <a:t>not found in any source (unsupported or computed without calculator)</a:t>
            </a:r>
            <a:endParaRPr lang="en-US" sz="1100" dirty="0"/>
          </a:p>
        </p:txBody>
      </p:sp>
      <p:sp>
        <p:nvSpPr>
          <p:cNvPr id="26" name="Text 24"/>
          <p:cNvSpPr txBox="1"/>
          <p:nvPr/>
        </p:nvSpPr>
        <p:spPr>
          <a:xfrm>
            <a:off x="6949440" y="3794760"/>
            <a:ext cx="4419295" cy="274320"/>
          </a:xfrm>
          <a:prstGeom prst="rect">
            <a:avLst/>
          </a:prstGeom>
          <a:noFill/>
          <a:ln/>
        </p:spPr>
        <p:txBody>
          <a:bodyPr wrap="square" lIns="0" tIns="0" rIns="0" bIns="0" rtlCol="0" anchor="ctr"/>
          <a:lstStyle/>
          <a:p>
            <a:pPr indent="0" marL="0">
              <a:buNone/>
            </a:pPr>
            <a:r>
              <a:rPr lang="en-US" sz="1200" b="1" dirty="0">
                <a:solidFill>
                  <a:srgbClr val="F5B83D"/>
                </a:solidFill>
                <a:latin typeface="Calibri" pitchFamily="34" charset="0"/>
                <a:ea typeface="Calibri" pitchFamily="34" charset="-122"/>
                <a:cs typeface="Calibri" pitchFamily="34" charset="-120"/>
              </a:rPr>
              <a:t>critic (gpt-oss-120b)</a:t>
            </a:r>
            <a:endParaRPr lang="en-US" sz="1200" dirty="0"/>
          </a:p>
        </p:txBody>
      </p:sp>
      <p:sp>
        <p:nvSpPr>
          <p:cNvPr id="27" name="Text 25"/>
          <p:cNvSpPr txBox="1"/>
          <p:nvPr/>
        </p:nvSpPr>
        <p:spPr>
          <a:xfrm>
            <a:off x="6949440" y="4069080"/>
            <a:ext cx="4419295" cy="502920"/>
          </a:xfrm>
          <a:prstGeom prst="rect">
            <a:avLst/>
          </a:prstGeom>
          <a:noFill/>
          <a:ln/>
        </p:spPr>
        <p:txBody>
          <a:bodyPr wrap="square" lIns="0" tIns="0" rIns="0" bIns="0" rtlCol="0" anchor="ctr"/>
          <a:lstStyle/>
          <a:p>
            <a:pPr indent="0" marL="0">
              <a:buNone/>
            </a:pPr>
            <a:r>
              <a:rPr lang="en-US" sz="1100" dirty="0">
                <a:solidFill>
                  <a:srgbClr val="F5B83D"/>
                </a:solidFill>
                <a:latin typeface="Courier New" pitchFamily="34" charset="0"/>
                <a:ea typeface="Courier New" pitchFamily="34" charset="-122"/>
                <a:cs typeface="Courier New" pitchFamily="34" charset="-120"/>
              </a:rPr>
              <a:t>3/10 · needs_research: "the task required the official pricing page"</a:t>
            </a:r>
            <a:endParaRPr lang="en-US" sz="1100" dirty="0"/>
          </a:p>
        </p:txBody>
      </p:sp>
      <p:sp>
        <p:nvSpPr>
          <p:cNvPr id="28" name="Shape 26"/>
          <p:cNvSpPr/>
          <p:nvPr/>
        </p:nvSpPr>
        <p:spPr>
          <a:xfrm>
            <a:off x="6675120" y="4937760"/>
            <a:ext cx="4967935" cy="1234440"/>
          </a:xfrm>
          <a:prstGeom prst="roundRect">
            <a:avLst>
              <a:gd name="adj" fmla="val 8889"/>
            </a:avLst>
          </a:prstGeom>
          <a:solidFill>
            <a:srgbClr val="123A2E"/>
          </a:solidFill>
          <a:ln w="12700">
            <a:solidFill>
              <a:srgbClr val="2A3345"/>
            </a:solidFill>
            <a:prstDash val="solid"/>
          </a:ln>
        </p:spPr>
      </p:sp>
      <p:sp>
        <p:nvSpPr>
          <p:cNvPr id="29" name="Text 27"/>
          <p:cNvSpPr txBox="1"/>
          <p:nvPr/>
        </p:nvSpPr>
        <p:spPr>
          <a:xfrm>
            <a:off x="6949440" y="5029200"/>
            <a:ext cx="4419295" cy="1051560"/>
          </a:xfrm>
          <a:prstGeom prst="rect">
            <a:avLst/>
          </a:prstGeom>
          <a:noFill/>
          <a:ln/>
        </p:spPr>
        <p:txBody>
          <a:bodyPr wrap="square" lIns="0" tIns="0" rIns="0" bIns="0" rtlCol="0" anchor="ctr"/>
          <a:lstStyle/>
          <a:p>
            <a:pPr indent="0" marL="0">
              <a:buNone/>
            </a:pPr>
            <a:r>
              <a:rPr lang="en-US" sz="1400" b="1" dirty="0">
                <a:solidFill>
                  <a:srgbClr val="3DDC97"/>
                </a:solidFill>
                <a:latin typeface="Calibri" pitchFamily="34" charset="0"/>
                <a:ea typeface="Calibri" pitchFamily="34" charset="-122"/>
                <a:cs typeface="Calibri" pitchFamily="34" charset="-120"/>
              </a:rPr>
              <a:t>Goal</a:t>
            </a:r>
            <a:endParaRPr lang="en-US" sz="1400" dirty="0"/>
          </a:p>
          <a:p>
            <a:pPr indent="0" marL="0">
              <a:buNone/>
            </a:pPr>
            <a:r>
              <a:rPr lang="en-US" sz="1800" b="1" dirty="0">
                <a:solidFill>
                  <a:srgbClr val="E6EDF3"/>
                </a:solidFill>
                <a:latin typeface="Calibri" pitchFamily="34" charset="0"/>
                <a:ea typeface="Calibri" pitchFamily="34" charset="-122"/>
                <a:cs typeface="Calibri" pitchFamily="34" charset="-120"/>
              </a:rPr>
              <a:t>An agent that checks its own work, and does not repeat a mistake.</a:t>
            </a:r>
            <a:endParaRPr lang="en-US" sz="1400" dirty="0"/>
          </a:p>
        </p:txBody>
      </p:sp>
      <p:sp>
        <p:nvSpPr>
          <p:cNvPr id="30" name="Text 2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B98A9"/>
                </a:solidFill>
                <a:latin typeface="Calibri" pitchFamily="34" charset="0"/>
                <a:ea typeface="Calibri" pitchFamily="34" charset="-122"/>
                <a:cs typeface="Calibri" pitchFamily="34" charset="-120"/>
              </a:rPr>
              <a:t>Self-Improving Research Agent  ·  1 / 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320040"/>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ARCHITECTURE  ·  LANGGRAPH, ONE SHARED STATE</a:t>
            </a:r>
            <a:endParaRPr lang="en-US" sz="13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E6EDF3"/>
                </a:solidFill>
                <a:latin typeface="Arial" pitchFamily="34" charset="0"/>
                <a:ea typeface="Arial" pitchFamily="34" charset="-122"/>
                <a:cs typeface="Arial" pitchFamily="34" charset="-120"/>
              </a:rPr>
              <a:t>Plan → research → write → review → learn</a:t>
            </a:r>
            <a:endParaRPr lang="en-US" sz="3000" dirty="0"/>
          </a:p>
        </p:txBody>
      </p:sp>
      <p:pic>
        <p:nvPicPr>
          <p:cNvPr id="4" name="Image 0" descr="Workflow: user task, then plan and research (recall, planner, executor with tools, advance), then write and review (writer, verify, critic with rewrite and research loops), then learn (reflect, SQLite memory, recalled next run)">    </p:cNvPr>
          <p:cNvPicPr>
            <a:picLocks noChangeAspect="1"/>
          </p:cNvPicPr>
          <p:nvPr/>
        </p:nvPicPr>
        <p:blipFill>
          <a:blip r:embed="rId1"/>
          <a:stretch>
            <a:fillRect/>
          </a:stretch>
        </p:blipFill>
        <p:spPr>
          <a:xfrm>
            <a:off x="746608" y="1371600"/>
            <a:ext cx="10698480" cy="4533157"/>
          </a:xfrm>
          <a:prstGeom prst="rect">
            <a:avLst/>
          </a:prstGeom>
        </p:spPr>
      </p:pic>
      <p:sp>
        <p:nvSpPr>
          <p:cNvPr id="5" name="Shape 2"/>
          <p:cNvSpPr/>
          <p:nvPr/>
        </p:nvSpPr>
        <p:spPr>
          <a:xfrm>
            <a:off x="618592" y="6053328"/>
            <a:ext cx="2103120" cy="347472"/>
          </a:xfrm>
          <a:prstGeom prst="roundRect">
            <a:avLst>
              <a:gd name="adj" fmla="val 50000"/>
            </a:avLst>
          </a:prstGeom>
          <a:solidFill>
            <a:srgbClr val="1C2332"/>
          </a:solidFill>
          <a:ln w="12700">
            <a:solidFill>
              <a:srgbClr val="2A3345"/>
            </a:solidFill>
            <a:prstDash val="solid"/>
          </a:ln>
        </p:spPr>
      </p:sp>
      <p:sp>
        <p:nvSpPr>
          <p:cNvPr id="6" name="Text 3"/>
          <p:cNvSpPr txBox="1"/>
          <p:nvPr/>
        </p:nvSpPr>
        <p:spPr>
          <a:xfrm>
            <a:off x="618592" y="6053328"/>
            <a:ext cx="2103120" cy="347472"/>
          </a:xfrm>
          <a:prstGeom prst="rect">
            <a:avLst/>
          </a:prstGeom>
          <a:noFill/>
          <a:ln/>
        </p:spPr>
        <p:txBody>
          <a:bodyPr wrap="square" lIns="0" tIns="0" rIns="0" bIns="0" rtlCol="0" anchor="ctr"/>
          <a:lstStyle/>
          <a:p>
            <a:pPr algn="ctr" indent="0" marL="0">
              <a:buNone/>
            </a:pPr>
            <a:r>
              <a:rPr lang="en-US" sz="1300" dirty="0">
                <a:solidFill>
                  <a:srgbClr val="E6EDF3"/>
                </a:solidFill>
                <a:latin typeface="Calibri" pitchFamily="34" charset="0"/>
                <a:ea typeface="Calibri" pitchFamily="34" charset="-122"/>
                <a:cs typeface="Calibri" pitchFamily="34" charset="-120"/>
              </a:rPr>
              <a:t>Plan-and-Execute</a:t>
            </a:r>
            <a:endParaRPr lang="en-US" sz="1300" dirty="0"/>
          </a:p>
        </p:txBody>
      </p:sp>
      <p:sp>
        <p:nvSpPr>
          <p:cNvPr id="7" name="Shape 4"/>
          <p:cNvSpPr/>
          <p:nvPr/>
        </p:nvSpPr>
        <p:spPr>
          <a:xfrm>
            <a:off x="2831440" y="6053328"/>
            <a:ext cx="2103120" cy="347472"/>
          </a:xfrm>
          <a:prstGeom prst="roundRect">
            <a:avLst>
              <a:gd name="adj" fmla="val 50000"/>
            </a:avLst>
          </a:prstGeom>
          <a:solidFill>
            <a:srgbClr val="1C2332"/>
          </a:solidFill>
          <a:ln w="12700">
            <a:solidFill>
              <a:srgbClr val="2A3345"/>
            </a:solidFill>
            <a:prstDash val="solid"/>
          </a:ln>
        </p:spPr>
      </p:sp>
      <p:sp>
        <p:nvSpPr>
          <p:cNvPr id="8" name="Text 5"/>
          <p:cNvSpPr txBox="1"/>
          <p:nvPr/>
        </p:nvSpPr>
        <p:spPr>
          <a:xfrm>
            <a:off x="2831440" y="6053328"/>
            <a:ext cx="2103120" cy="347472"/>
          </a:xfrm>
          <a:prstGeom prst="rect">
            <a:avLst/>
          </a:prstGeom>
          <a:noFill/>
          <a:ln/>
        </p:spPr>
        <p:txBody>
          <a:bodyPr wrap="square" lIns="0" tIns="0" rIns="0" bIns="0" rtlCol="0" anchor="ctr"/>
          <a:lstStyle/>
          <a:p>
            <a:pPr algn="ctr" indent="0" marL="0">
              <a:buNone/>
            </a:pPr>
            <a:r>
              <a:rPr lang="en-US" sz="1300" dirty="0">
                <a:solidFill>
                  <a:srgbClr val="E6EDF3"/>
                </a:solidFill>
                <a:latin typeface="Calibri" pitchFamily="34" charset="0"/>
                <a:ea typeface="Calibri" pitchFamily="34" charset="-122"/>
                <a:cs typeface="Calibri" pitchFamily="34" charset="-120"/>
              </a:rPr>
              <a:t>ReAct</a:t>
            </a:r>
            <a:endParaRPr lang="en-US" sz="1300" dirty="0"/>
          </a:p>
        </p:txBody>
      </p:sp>
      <p:sp>
        <p:nvSpPr>
          <p:cNvPr id="9" name="Shape 6"/>
          <p:cNvSpPr/>
          <p:nvPr/>
        </p:nvSpPr>
        <p:spPr>
          <a:xfrm>
            <a:off x="5044288" y="6053328"/>
            <a:ext cx="2103120" cy="347472"/>
          </a:xfrm>
          <a:prstGeom prst="roundRect">
            <a:avLst>
              <a:gd name="adj" fmla="val 50000"/>
            </a:avLst>
          </a:prstGeom>
          <a:solidFill>
            <a:srgbClr val="1C2332"/>
          </a:solidFill>
          <a:ln w="12700">
            <a:solidFill>
              <a:srgbClr val="2A3345"/>
            </a:solidFill>
            <a:prstDash val="solid"/>
          </a:ln>
        </p:spPr>
      </p:sp>
      <p:sp>
        <p:nvSpPr>
          <p:cNvPr id="10" name="Text 7"/>
          <p:cNvSpPr txBox="1"/>
          <p:nvPr/>
        </p:nvSpPr>
        <p:spPr>
          <a:xfrm>
            <a:off x="5044288" y="6053328"/>
            <a:ext cx="2103120" cy="347472"/>
          </a:xfrm>
          <a:prstGeom prst="rect">
            <a:avLst/>
          </a:prstGeom>
          <a:noFill/>
          <a:ln/>
        </p:spPr>
        <p:txBody>
          <a:bodyPr wrap="square" lIns="0" tIns="0" rIns="0" bIns="0" rtlCol="0" anchor="ctr"/>
          <a:lstStyle/>
          <a:p>
            <a:pPr algn="ctr" indent="0" marL="0">
              <a:buNone/>
            </a:pPr>
            <a:r>
              <a:rPr lang="en-US" sz="1300" dirty="0">
                <a:solidFill>
                  <a:srgbClr val="E6EDF3"/>
                </a:solidFill>
                <a:latin typeface="Calibri" pitchFamily="34" charset="0"/>
                <a:ea typeface="Calibri" pitchFamily="34" charset="-122"/>
                <a:cs typeface="Calibri" pitchFamily="34" charset="-120"/>
              </a:rPr>
              <a:t>Tool use</a:t>
            </a:r>
            <a:endParaRPr lang="en-US" sz="1300" dirty="0"/>
          </a:p>
        </p:txBody>
      </p:sp>
      <p:sp>
        <p:nvSpPr>
          <p:cNvPr id="11" name="Shape 8"/>
          <p:cNvSpPr/>
          <p:nvPr/>
        </p:nvSpPr>
        <p:spPr>
          <a:xfrm>
            <a:off x="7257136" y="6053328"/>
            <a:ext cx="2103120" cy="347472"/>
          </a:xfrm>
          <a:prstGeom prst="roundRect">
            <a:avLst>
              <a:gd name="adj" fmla="val 50000"/>
            </a:avLst>
          </a:prstGeom>
          <a:solidFill>
            <a:srgbClr val="1C2332"/>
          </a:solidFill>
          <a:ln w="12700">
            <a:solidFill>
              <a:srgbClr val="2A3345"/>
            </a:solidFill>
            <a:prstDash val="solid"/>
          </a:ln>
        </p:spPr>
      </p:sp>
      <p:sp>
        <p:nvSpPr>
          <p:cNvPr id="12" name="Text 9"/>
          <p:cNvSpPr txBox="1"/>
          <p:nvPr/>
        </p:nvSpPr>
        <p:spPr>
          <a:xfrm>
            <a:off x="7257136" y="6053328"/>
            <a:ext cx="2103120" cy="347472"/>
          </a:xfrm>
          <a:prstGeom prst="rect">
            <a:avLst/>
          </a:prstGeom>
          <a:noFill/>
          <a:ln/>
        </p:spPr>
        <p:txBody>
          <a:bodyPr wrap="square" lIns="0" tIns="0" rIns="0" bIns="0" rtlCol="0" anchor="ctr"/>
          <a:lstStyle/>
          <a:p>
            <a:pPr algn="ctr" indent="0" marL="0">
              <a:buNone/>
            </a:pPr>
            <a:r>
              <a:rPr lang="en-US" sz="1300" dirty="0">
                <a:solidFill>
                  <a:srgbClr val="E6EDF3"/>
                </a:solidFill>
                <a:latin typeface="Calibri" pitchFamily="34" charset="0"/>
                <a:ea typeface="Calibri" pitchFamily="34" charset="-122"/>
                <a:cs typeface="Calibri" pitchFamily="34" charset="-120"/>
              </a:rPr>
              <a:t>Reflection / critic</a:t>
            </a:r>
            <a:endParaRPr lang="en-US" sz="1300" dirty="0"/>
          </a:p>
        </p:txBody>
      </p:sp>
      <p:sp>
        <p:nvSpPr>
          <p:cNvPr id="13" name="Shape 10"/>
          <p:cNvSpPr/>
          <p:nvPr/>
        </p:nvSpPr>
        <p:spPr>
          <a:xfrm>
            <a:off x="9469984" y="6053328"/>
            <a:ext cx="2103120" cy="347472"/>
          </a:xfrm>
          <a:prstGeom prst="roundRect">
            <a:avLst>
              <a:gd name="adj" fmla="val 50000"/>
            </a:avLst>
          </a:prstGeom>
          <a:solidFill>
            <a:srgbClr val="1C2332"/>
          </a:solidFill>
          <a:ln w="12700">
            <a:solidFill>
              <a:srgbClr val="2A3345"/>
            </a:solidFill>
            <a:prstDash val="solid"/>
          </a:ln>
        </p:spPr>
      </p:sp>
      <p:sp>
        <p:nvSpPr>
          <p:cNvPr id="14" name="Text 11"/>
          <p:cNvSpPr txBox="1"/>
          <p:nvPr/>
        </p:nvSpPr>
        <p:spPr>
          <a:xfrm>
            <a:off x="9469984" y="6053328"/>
            <a:ext cx="2103120" cy="347472"/>
          </a:xfrm>
          <a:prstGeom prst="rect">
            <a:avLst/>
          </a:prstGeom>
          <a:noFill/>
          <a:ln/>
        </p:spPr>
        <p:txBody>
          <a:bodyPr wrap="square" lIns="0" tIns="0" rIns="0" bIns="0" rtlCol="0" anchor="ctr"/>
          <a:lstStyle/>
          <a:p>
            <a:pPr algn="ctr" indent="0" marL="0">
              <a:buNone/>
            </a:pPr>
            <a:r>
              <a:rPr lang="en-US" sz="1300" dirty="0">
                <a:solidFill>
                  <a:srgbClr val="E6EDF3"/>
                </a:solidFill>
                <a:latin typeface="Calibri" pitchFamily="34" charset="0"/>
                <a:ea typeface="Calibri" pitchFamily="34" charset="-122"/>
                <a:cs typeface="Calibri" pitchFamily="34" charset="-120"/>
              </a:rPr>
              <a:t>Long-term memory</a:t>
            </a:r>
            <a:endParaRPr lang="en-US" sz="1300" dirty="0"/>
          </a:p>
        </p:txBody>
      </p:sp>
      <p:sp>
        <p:nvSpPr>
          <p:cNvPr id="16"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B98A9"/>
                </a:solidFill>
                <a:latin typeface="Calibri" pitchFamily="34" charset="0"/>
                <a:ea typeface="Calibri" pitchFamily="34" charset="-122"/>
                <a:cs typeface="Calibri" pitchFamily="34" charset="-120"/>
              </a:rPr>
              <a:t>Self-Improving Research Agent  ·  2 / 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320040"/>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SELF-IMPROVEMENT PROOF  ·  CONTROLLED COMPARISON</a:t>
            </a:r>
            <a:endParaRPr lang="en-US" sz="13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E6EDF3"/>
                </a:solidFill>
                <a:latin typeface="Arial" pitchFamily="34" charset="0"/>
                <a:ea typeface="Arial" pitchFamily="34" charset="-122"/>
                <a:cs typeface="Arial" pitchFamily="34" charset="-120"/>
              </a:rPr>
              <a:t>The fourth run got it right the first time</a:t>
            </a:r>
            <a:endParaRPr lang="en-US" sz="3000" dirty="0"/>
          </a:p>
        </p:txBody>
      </p:sp>
      <p:sp>
        <p:nvSpPr>
          <p:cNvPr id="4" name="Shape 2"/>
          <p:cNvSpPr/>
          <p:nvPr/>
        </p:nvSpPr>
        <p:spPr>
          <a:xfrm>
            <a:off x="548640" y="1463040"/>
            <a:ext cx="3520440" cy="1325880"/>
          </a:xfrm>
          <a:prstGeom prst="roundRect">
            <a:avLst>
              <a:gd name="adj" fmla="val 8276"/>
            </a:avLst>
          </a:prstGeom>
          <a:solidFill>
            <a:srgbClr val="161B26"/>
          </a:solidFill>
          <a:ln w="12700">
            <a:solidFill>
              <a:srgbClr val="2A3345"/>
            </a:solidFill>
            <a:prstDash val="solid"/>
          </a:ln>
        </p:spPr>
      </p:sp>
      <p:sp>
        <p:nvSpPr>
          <p:cNvPr id="5" name="Text 3"/>
          <p:cNvSpPr txBox="1"/>
          <p:nvPr/>
        </p:nvSpPr>
        <p:spPr>
          <a:xfrm>
            <a:off x="822960" y="1536192"/>
            <a:ext cx="2971800" cy="777240"/>
          </a:xfrm>
          <a:prstGeom prst="rect">
            <a:avLst/>
          </a:prstGeom>
          <a:noFill/>
          <a:ln/>
        </p:spPr>
        <p:txBody>
          <a:bodyPr wrap="square" lIns="0" tIns="0" rIns="0" bIns="0" rtlCol="0" anchor="ctr"/>
          <a:lstStyle/>
          <a:p>
            <a:pPr indent="0" marL="0">
              <a:buNone/>
            </a:pPr>
            <a:r>
              <a:rPr lang="en-US" sz="4400" b="1" dirty="0">
                <a:solidFill>
                  <a:srgbClr val="3DDC97"/>
                </a:solidFill>
                <a:latin typeface="Arial" pitchFamily="34" charset="0"/>
                <a:ea typeface="Arial" pitchFamily="34" charset="-122"/>
                <a:cs typeface="Arial" pitchFamily="34" charset="-120"/>
              </a:rPr>
              <a:t>3 → 9</a:t>
            </a:r>
            <a:endParaRPr lang="en-US" sz="4400" dirty="0"/>
          </a:p>
        </p:txBody>
      </p:sp>
      <p:sp>
        <p:nvSpPr>
          <p:cNvPr id="6" name="Text 4"/>
          <p:cNvSpPr txBox="1"/>
          <p:nvPr/>
        </p:nvSpPr>
        <p:spPr>
          <a:xfrm>
            <a:off x="822960" y="2304288"/>
            <a:ext cx="2971800" cy="365760"/>
          </a:xfrm>
          <a:prstGeom prst="rect">
            <a:avLst/>
          </a:prstGeom>
          <a:noFill/>
          <a:ln/>
        </p:spPr>
        <p:txBody>
          <a:bodyPr wrap="square" lIns="0" tIns="0" rIns="0" bIns="0" rtlCol="0" anchor="ctr"/>
          <a:lstStyle/>
          <a:p>
            <a:pPr indent="0" marL="0">
              <a:buNone/>
            </a:pPr>
            <a:r>
              <a:rPr lang="en-US" sz="1400" dirty="0">
                <a:solidFill>
                  <a:srgbClr val="8B98A9"/>
                </a:solidFill>
                <a:latin typeface="Calibri" pitchFamily="34" charset="0"/>
                <a:ea typeface="Calibri" pitchFamily="34" charset="-122"/>
                <a:cs typeface="Calibri" pitchFamily="34" charset="-120"/>
              </a:rPr>
              <a:t>first critique score (of 10)</a:t>
            </a:r>
            <a:endParaRPr lang="en-US" sz="1400" dirty="0"/>
          </a:p>
        </p:txBody>
      </p:sp>
      <p:sp>
        <p:nvSpPr>
          <p:cNvPr id="7" name="Shape 5"/>
          <p:cNvSpPr/>
          <p:nvPr/>
        </p:nvSpPr>
        <p:spPr>
          <a:xfrm>
            <a:off x="4343400" y="1463040"/>
            <a:ext cx="3520440" cy="1325880"/>
          </a:xfrm>
          <a:prstGeom prst="roundRect">
            <a:avLst>
              <a:gd name="adj" fmla="val 8276"/>
            </a:avLst>
          </a:prstGeom>
          <a:solidFill>
            <a:srgbClr val="161B26"/>
          </a:solidFill>
          <a:ln w="12700">
            <a:solidFill>
              <a:srgbClr val="2A3345"/>
            </a:solidFill>
            <a:prstDash val="solid"/>
          </a:ln>
        </p:spPr>
      </p:sp>
      <p:sp>
        <p:nvSpPr>
          <p:cNvPr id="8" name="Text 6"/>
          <p:cNvSpPr txBox="1"/>
          <p:nvPr/>
        </p:nvSpPr>
        <p:spPr>
          <a:xfrm>
            <a:off x="4617720" y="1536192"/>
            <a:ext cx="2971800" cy="777240"/>
          </a:xfrm>
          <a:prstGeom prst="rect">
            <a:avLst/>
          </a:prstGeom>
          <a:noFill/>
          <a:ln/>
        </p:spPr>
        <p:txBody>
          <a:bodyPr wrap="square" lIns="0" tIns="0" rIns="0" bIns="0" rtlCol="0" anchor="ctr"/>
          <a:lstStyle/>
          <a:p>
            <a:pPr indent="0" marL="0">
              <a:buNone/>
            </a:pPr>
            <a:r>
              <a:rPr lang="en-US" sz="4400" b="1" dirty="0">
                <a:solidFill>
                  <a:srgbClr val="3DDC97"/>
                </a:solidFill>
                <a:latin typeface="Arial" pitchFamily="34" charset="0"/>
                <a:ea typeface="Arial" pitchFamily="34" charset="-122"/>
                <a:cs typeface="Arial" pitchFamily="34" charset="-120"/>
              </a:rPr>
              <a:t>1 → 0</a:t>
            </a:r>
            <a:endParaRPr lang="en-US" sz="4400" dirty="0"/>
          </a:p>
        </p:txBody>
      </p:sp>
      <p:sp>
        <p:nvSpPr>
          <p:cNvPr id="9" name="Text 7"/>
          <p:cNvSpPr txBox="1"/>
          <p:nvPr/>
        </p:nvSpPr>
        <p:spPr>
          <a:xfrm>
            <a:off x="4617720" y="2304288"/>
            <a:ext cx="2971800" cy="365760"/>
          </a:xfrm>
          <a:prstGeom prst="rect">
            <a:avLst/>
          </a:prstGeom>
          <a:noFill/>
          <a:ln/>
        </p:spPr>
        <p:txBody>
          <a:bodyPr wrap="square" lIns="0" tIns="0" rIns="0" bIns="0" rtlCol="0" anchor="ctr"/>
          <a:lstStyle/>
          <a:p>
            <a:pPr indent="0" marL="0">
              <a:buNone/>
            </a:pPr>
            <a:r>
              <a:rPr lang="en-US" sz="1400" dirty="0">
                <a:solidFill>
                  <a:srgbClr val="8B98A9"/>
                </a:solidFill>
                <a:latin typeface="Calibri" pitchFamily="34" charset="0"/>
                <a:ea typeface="Calibri" pitchFamily="34" charset="-122"/>
                <a:cs typeface="Calibri" pitchFamily="34" charset="-120"/>
              </a:rPr>
              <a:t>revisions needed</a:t>
            </a:r>
            <a:endParaRPr lang="en-US" sz="1400" dirty="0"/>
          </a:p>
        </p:txBody>
      </p:sp>
      <p:sp>
        <p:nvSpPr>
          <p:cNvPr id="10" name="Shape 8"/>
          <p:cNvSpPr/>
          <p:nvPr/>
        </p:nvSpPr>
        <p:spPr>
          <a:xfrm>
            <a:off x="8138160" y="1463040"/>
            <a:ext cx="3520440" cy="1325880"/>
          </a:xfrm>
          <a:prstGeom prst="roundRect">
            <a:avLst>
              <a:gd name="adj" fmla="val 8276"/>
            </a:avLst>
          </a:prstGeom>
          <a:solidFill>
            <a:srgbClr val="161B26"/>
          </a:solidFill>
          <a:ln w="12700">
            <a:solidFill>
              <a:srgbClr val="2A3345"/>
            </a:solidFill>
            <a:prstDash val="solid"/>
          </a:ln>
        </p:spPr>
      </p:sp>
      <p:sp>
        <p:nvSpPr>
          <p:cNvPr id="11" name="Text 9"/>
          <p:cNvSpPr txBox="1"/>
          <p:nvPr/>
        </p:nvSpPr>
        <p:spPr>
          <a:xfrm>
            <a:off x="8412480" y="1536192"/>
            <a:ext cx="2971800" cy="777240"/>
          </a:xfrm>
          <a:prstGeom prst="rect">
            <a:avLst/>
          </a:prstGeom>
          <a:noFill/>
          <a:ln/>
        </p:spPr>
        <p:txBody>
          <a:bodyPr wrap="square" lIns="0" tIns="0" rIns="0" bIns="0" rtlCol="0" anchor="ctr"/>
          <a:lstStyle/>
          <a:p>
            <a:pPr indent="0" marL="0">
              <a:buNone/>
            </a:pPr>
            <a:r>
              <a:rPr lang="en-US" sz="4400" b="1" dirty="0">
                <a:solidFill>
                  <a:srgbClr val="3DDC97"/>
                </a:solidFill>
                <a:latin typeface="Arial" pitchFamily="34" charset="0"/>
                <a:ea typeface="Arial" pitchFamily="34" charset="-122"/>
                <a:cs typeface="Arial" pitchFamily="34" charset="-120"/>
              </a:rPr>
              <a:t>−52%</a:t>
            </a:r>
            <a:endParaRPr lang="en-US" sz="4400" dirty="0"/>
          </a:p>
        </p:txBody>
      </p:sp>
      <p:sp>
        <p:nvSpPr>
          <p:cNvPr id="12" name="Text 10"/>
          <p:cNvSpPr txBox="1"/>
          <p:nvPr/>
        </p:nvSpPr>
        <p:spPr>
          <a:xfrm>
            <a:off x="8412480" y="2304288"/>
            <a:ext cx="2971800" cy="365760"/>
          </a:xfrm>
          <a:prstGeom prst="rect">
            <a:avLst/>
          </a:prstGeom>
          <a:noFill/>
          <a:ln/>
        </p:spPr>
        <p:txBody>
          <a:bodyPr wrap="square" lIns="0" tIns="0" rIns="0" bIns="0" rtlCol="0" anchor="ctr"/>
          <a:lstStyle/>
          <a:p>
            <a:pPr indent="0" marL="0">
              <a:buNone/>
            </a:pPr>
            <a:r>
              <a:rPr lang="en-US" sz="1400" dirty="0">
                <a:solidFill>
                  <a:srgbClr val="8B98A9"/>
                </a:solidFill>
                <a:latin typeface="Calibri" pitchFamily="34" charset="0"/>
                <a:ea typeface="Calibri" pitchFamily="34" charset="-122"/>
                <a:cs typeface="Calibri" pitchFamily="34" charset="-120"/>
              </a:rPr>
              <a:t>tokens (28,411 → 13,604)</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6766560" cy="914400"/>
        </p:xfrm>
        <a:graphic>
          <a:graphicData uri="http://schemas.openxmlformats.org/drawingml/2006/table">
            <a:tbl>
              <a:tblPr/>
              <a:tblGrid>
                <a:gridCol w="1554480"/>
                <a:gridCol w="2240280"/>
                <a:gridCol w="2971800"/>
              </a:tblGrid>
              <a:tr h="384048">
                <a:tc>
                  <a:txBody>
                    <a:bodyPr/>
                    <a:lstStyle/>
                    <a:p>
                      <a:pPr indent="0" marL="0">
                        <a:buNone/>
                      </a:pPr>
                      <a:endParaRPr lang="en-US" sz="1400" dirty="0">
                        <a:latin typeface="Calibri" charset="0"/>
                        <a:ea typeface="Calibri" charset="0"/>
                        <a:cs typeface="Calibri" charset="0"/>
                      </a:endParaRPr>
                    </a:p>
                  </a:txBody>
                  <a:tcPr marL="109728" marR="73152" marT="27432" marB="27432" anchor="ctr">
                    <a:lnL w="9525" cap="flat" cmpd="sng" algn="ctr">
                      <a:solidFill>
                        <a:srgbClr val="2A3345"/>
                      </a:solidFill>
                      <a:prstDash val="solid"/>
                      <a:round/>
                      <a:headEnd type="none" w="med" len="med"/>
                      <a:tailEnd type="none" w="med" len="med"/>
                    </a:lnL>
                    <a:lnR w="9525" cap="flat" cmpd="sng" algn="ctr">
                      <a:solidFill>
                        <a:srgbClr val="2A3345"/>
                      </a:solidFill>
                      <a:prstDash val="solid"/>
                      <a:round/>
                      <a:headEnd type="none" w="med" len="med"/>
                      <a:tailEnd type="none" w="med" len="med"/>
                    </a:lnR>
                    <a:lnT w="9525" cap="flat" cmpd="sng" algn="ctr">
                      <a:solidFill>
                        <a:srgbClr val="2A3345"/>
                      </a:solidFill>
                      <a:prstDash val="solid"/>
                      <a:round/>
                      <a:headEnd type="none" w="med" len="med"/>
                      <a:tailEnd type="none" w="med" len="med"/>
                    </a:lnT>
                    <a:lnB w="9525" cap="flat" cmpd="sng" algn="ctr">
                      <a:solidFill>
                        <a:srgbClr val="2A3345"/>
                      </a:solidFill>
                      <a:prstDash val="solid"/>
                      <a:round/>
                      <a:headEnd type="none" w="med" len="med"/>
                      <a:tailEnd type="none" w="med" len="med"/>
                    </a:lnB>
                    <a:solidFill>
                      <a:srgbClr val="1C2332"/>
                    </a:solidFill>
                  </a:tcPr>
                </a:tc>
                <a:tc>
                  <a:txBody>
                    <a:bodyPr/>
                    <a:lstStyle/>
                    <a:p>
                      <a:pPr indent="0" marL="0">
                        <a:buNone/>
                      </a:pPr>
                      <a:r>
                        <a:rPr lang="en-US" sz="1400" b="1" dirty="0">
                          <a:solidFill>
                            <a:srgbClr val="E6EDF3"/>
                          </a:solidFill>
                          <a:latin typeface="Calibri" pitchFamily="34" charset="0"/>
                          <a:ea typeface="Calibri" pitchFamily="34" charset="-122"/>
                          <a:cs typeface="Calibri" pitchFamily="34" charset="-120"/>
                        </a:rPr>
                        <a:t>Run #1 · no memory</a:t>
                      </a:r>
                      <a:endParaRPr lang="en-US" sz="1400" dirty="0">
                        <a:latin typeface="Calibri" charset="0"/>
                        <a:ea typeface="Calibri" charset="0"/>
                        <a:cs typeface="Calibri" charset="0"/>
                      </a:endParaRPr>
                    </a:p>
                  </a:txBody>
                  <a:tcPr marL="109728" marR="73152" marT="27432" marB="27432" anchor="ctr">
                    <a:lnL w="9525" cap="flat" cmpd="sng" algn="ctr">
                      <a:solidFill>
                        <a:srgbClr val="2A3345"/>
                      </a:solidFill>
                      <a:prstDash val="solid"/>
                      <a:round/>
                      <a:headEnd type="none" w="med" len="med"/>
                      <a:tailEnd type="none" w="med" len="med"/>
                    </a:lnL>
                    <a:lnR w="9525" cap="flat" cmpd="sng" algn="ctr">
                      <a:solidFill>
                        <a:srgbClr val="2A3345"/>
                      </a:solidFill>
                      <a:prstDash val="solid"/>
                      <a:round/>
                      <a:headEnd type="none" w="med" len="med"/>
                      <a:tailEnd type="none" w="med" len="med"/>
                    </a:lnR>
                    <a:lnT w="9525" cap="flat" cmpd="sng" algn="ctr">
                      <a:solidFill>
                        <a:srgbClr val="2A3345"/>
                      </a:solidFill>
                      <a:prstDash val="solid"/>
                      <a:round/>
                      <a:headEnd type="none" w="med" len="med"/>
                      <a:tailEnd type="none" w="med" len="med"/>
                    </a:lnT>
                    <a:lnB w="9525" cap="flat" cmpd="sng" algn="ctr">
                      <a:solidFill>
                        <a:srgbClr val="2A3345"/>
                      </a:solidFill>
                      <a:prstDash val="solid"/>
                      <a:round/>
                      <a:headEnd type="none" w="med" len="med"/>
                      <a:tailEnd type="none" w="med" len="med"/>
                    </a:lnB>
                    <a:solidFill>
                      <a:srgbClr val="1C2332"/>
                    </a:solidFill>
                  </a:tcPr>
                </a:tc>
                <a:tc>
                  <a:txBody>
                    <a:bodyPr/>
                    <a:lstStyle/>
                    <a:p>
                      <a:pPr indent="0" marL="0">
                        <a:buNone/>
                      </a:pPr>
                      <a:r>
                        <a:rPr lang="en-US" sz="1400" b="1" dirty="0">
                          <a:solidFill>
                            <a:srgbClr val="E6EDF3"/>
                          </a:solidFill>
                          <a:latin typeface="Calibri" pitchFamily="34" charset="0"/>
                          <a:ea typeface="Calibri" pitchFamily="34" charset="-122"/>
                          <a:cs typeface="Calibri" pitchFamily="34" charset="-120"/>
                        </a:rPr>
                        <a:t>Run #4 · 4 lessons + trusted URL</a:t>
                      </a:r>
                      <a:endParaRPr lang="en-US" sz="1400" dirty="0">
                        <a:latin typeface="Calibri" charset="0"/>
                        <a:ea typeface="Calibri" charset="0"/>
                        <a:cs typeface="Calibri" charset="0"/>
                      </a:endParaRPr>
                    </a:p>
                  </a:txBody>
                  <a:tcPr marL="109728" marR="73152" marT="27432" marB="27432" anchor="ctr">
                    <a:lnL w="9525" cap="flat" cmpd="sng" algn="ctr">
                      <a:solidFill>
                        <a:srgbClr val="2A3345"/>
                      </a:solidFill>
                      <a:prstDash val="solid"/>
                      <a:round/>
                      <a:headEnd type="none" w="med" len="med"/>
                      <a:tailEnd type="none" w="med" len="med"/>
                    </a:lnL>
                    <a:lnR w="9525" cap="flat" cmpd="sng" algn="ctr">
                      <a:solidFill>
                        <a:srgbClr val="2A3345"/>
                      </a:solidFill>
                      <a:prstDash val="solid"/>
                      <a:round/>
                      <a:headEnd type="none" w="med" len="med"/>
                      <a:tailEnd type="none" w="med" len="med"/>
                    </a:lnR>
                    <a:lnT w="9525" cap="flat" cmpd="sng" algn="ctr">
                      <a:solidFill>
                        <a:srgbClr val="2A3345"/>
                      </a:solidFill>
                      <a:prstDash val="solid"/>
                      <a:round/>
                      <a:headEnd type="none" w="med" len="med"/>
                      <a:tailEnd type="none" w="med" len="med"/>
                    </a:lnT>
                    <a:lnB w="9525" cap="flat" cmpd="sng" algn="ctr">
                      <a:solidFill>
                        <a:srgbClr val="2A3345"/>
                      </a:solidFill>
                      <a:prstDash val="solid"/>
                      <a:round/>
                      <a:headEnd type="none" w="med" len="med"/>
                      <a:tailEnd type="none" w="med" len="med"/>
                    </a:lnB>
                    <a:solidFill>
                      <a:srgbClr val="1C2332"/>
                    </a:solidFill>
                  </a:tcPr>
                </a:tc>
              </a:tr>
              <a:tr h="384048">
                <a:tc>
                  <a:txBody>
                    <a:bodyPr/>
                    <a:lstStyle/>
                    <a:p>
                      <a:pPr indent="0" marL="0">
                        <a:buNone/>
                      </a:pPr>
                      <a:r>
                        <a:rPr lang="en-US" sz="1400" dirty="0">
                          <a:solidFill>
                            <a:srgbClr val="8B98A9"/>
                          </a:solidFill>
                          <a:latin typeface="Calibri" pitchFamily="34" charset="0"/>
                          <a:ea typeface="Calibri" pitchFamily="34" charset="-122"/>
                          <a:cs typeface="Calibri" pitchFamily="34" charset="-120"/>
                        </a:rPr>
                        <a:t>First critique</a:t>
                      </a:r>
                      <a:endParaRPr lang="en-US" sz="1400" dirty="0">
                        <a:latin typeface="Calibri" charset="0"/>
                        <a:ea typeface="Calibri" charset="0"/>
                        <a:cs typeface="Calibri" charset="0"/>
                      </a:endParaRPr>
                    </a:p>
                  </a:txBody>
                  <a:tcPr marL="109728" marR="73152" marT="27432" marB="27432" anchor="ctr">
                    <a:lnL w="9525" cap="flat" cmpd="sng" algn="ctr">
                      <a:solidFill>
                        <a:srgbClr val="2A3345"/>
                      </a:solidFill>
                      <a:prstDash val="solid"/>
                      <a:round/>
                      <a:headEnd type="none" w="med" len="med"/>
                      <a:tailEnd type="none" w="med" len="med"/>
                    </a:lnL>
                    <a:lnR w="9525" cap="flat" cmpd="sng" algn="ctr">
                      <a:solidFill>
                        <a:srgbClr val="2A3345"/>
                      </a:solidFill>
                      <a:prstDash val="solid"/>
                      <a:round/>
                      <a:headEnd type="none" w="med" len="med"/>
                      <a:tailEnd type="none" w="med" len="med"/>
                    </a:lnR>
                    <a:lnT w="9525" cap="flat" cmpd="sng" algn="ctr">
                      <a:solidFill>
                        <a:srgbClr val="2A3345"/>
                      </a:solidFill>
                      <a:prstDash val="solid"/>
                      <a:round/>
                      <a:headEnd type="none" w="med" len="med"/>
                      <a:tailEnd type="none" w="med" len="med"/>
                    </a:lnT>
                    <a:lnB w="9525" cap="flat" cmpd="sng" algn="ctr">
                      <a:solidFill>
                        <a:srgbClr val="2A3345"/>
                      </a:solidFill>
                      <a:prstDash val="solid"/>
                      <a:round/>
                      <a:headEnd type="none" w="med" len="med"/>
                      <a:tailEnd type="none" w="med" len="med"/>
                    </a:lnB>
                    <a:solidFill>
                      <a:srgbClr val="161B26"/>
                    </a:solidFill>
                  </a:tcPr>
                </a:tc>
                <a:tc>
                  <a:txBody>
                    <a:bodyPr/>
                    <a:lstStyle/>
                    <a:p>
                      <a:pPr indent="0" marL="0">
                        <a:buNone/>
                      </a:pPr>
                      <a:r>
                        <a:rPr lang="en-US" sz="1400" dirty="0">
                          <a:solidFill>
                            <a:srgbClr val="FF6B6B"/>
                          </a:solidFill>
                          <a:latin typeface="Calibri" pitchFamily="34" charset="0"/>
                          <a:ea typeface="Calibri" pitchFamily="34" charset="-122"/>
                          <a:cs typeface="Calibri" pitchFamily="34" charset="-120"/>
                        </a:rPr>
                        <a:t>3/10 needs_research</a:t>
                      </a:r>
                      <a:endParaRPr lang="en-US" sz="1400" dirty="0">
                        <a:latin typeface="Calibri" charset="0"/>
                        <a:ea typeface="Calibri" charset="0"/>
                        <a:cs typeface="Calibri" charset="0"/>
                      </a:endParaRPr>
                    </a:p>
                  </a:txBody>
                  <a:tcPr marL="109728" marR="73152" marT="27432" marB="27432" anchor="ctr">
                    <a:lnL w="9525" cap="flat" cmpd="sng" algn="ctr">
                      <a:solidFill>
                        <a:srgbClr val="2A3345"/>
                      </a:solidFill>
                      <a:prstDash val="solid"/>
                      <a:round/>
                      <a:headEnd type="none" w="med" len="med"/>
                      <a:tailEnd type="none" w="med" len="med"/>
                    </a:lnL>
                    <a:lnR w="9525" cap="flat" cmpd="sng" algn="ctr">
                      <a:solidFill>
                        <a:srgbClr val="2A3345"/>
                      </a:solidFill>
                      <a:prstDash val="solid"/>
                      <a:round/>
                      <a:headEnd type="none" w="med" len="med"/>
                      <a:tailEnd type="none" w="med" len="med"/>
                    </a:lnR>
                    <a:lnT w="9525" cap="flat" cmpd="sng" algn="ctr">
                      <a:solidFill>
                        <a:srgbClr val="2A3345"/>
                      </a:solidFill>
                      <a:prstDash val="solid"/>
                      <a:round/>
                      <a:headEnd type="none" w="med" len="med"/>
                      <a:tailEnd type="none" w="med" len="med"/>
                    </a:lnT>
                    <a:lnB w="9525" cap="flat" cmpd="sng" algn="ctr">
                      <a:solidFill>
                        <a:srgbClr val="2A3345"/>
                      </a:solidFill>
                      <a:prstDash val="solid"/>
                      <a:round/>
                      <a:headEnd type="none" w="med" len="med"/>
                      <a:tailEnd type="none" w="med" len="med"/>
                    </a:lnB>
                    <a:solidFill>
                      <a:srgbClr val="161B26"/>
                    </a:solidFill>
                  </a:tcPr>
                </a:tc>
                <a:tc>
                  <a:txBody>
                    <a:bodyPr/>
                    <a:lstStyle/>
                    <a:p>
                      <a:pPr indent="0" marL="0">
                        <a:buNone/>
                      </a:pPr>
                      <a:r>
                        <a:rPr lang="en-US" sz="1400" b="1" dirty="0">
                          <a:solidFill>
                            <a:srgbClr val="3DDC97"/>
                          </a:solidFill>
                          <a:latin typeface="Calibri" pitchFamily="34" charset="0"/>
                          <a:ea typeface="Calibri" pitchFamily="34" charset="-122"/>
                          <a:cs typeface="Calibri" pitchFamily="34" charset="-120"/>
                        </a:rPr>
                        <a:t>9/10 accept</a:t>
                      </a:r>
                      <a:endParaRPr lang="en-US" sz="1400" dirty="0">
                        <a:latin typeface="Calibri" charset="0"/>
                        <a:ea typeface="Calibri" charset="0"/>
                        <a:cs typeface="Calibri" charset="0"/>
                      </a:endParaRPr>
                    </a:p>
                  </a:txBody>
                  <a:tcPr marL="109728" marR="73152" marT="27432" marB="27432" anchor="ctr">
                    <a:lnL w="9525" cap="flat" cmpd="sng" algn="ctr">
                      <a:solidFill>
                        <a:srgbClr val="2A3345"/>
                      </a:solidFill>
                      <a:prstDash val="solid"/>
                      <a:round/>
                      <a:headEnd type="none" w="med" len="med"/>
                      <a:tailEnd type="none" w="med" len="med"/>
                    </a:lnL>
                    <a:lnR w="9525" cap="flat" cmpd="sng" algn="ctr">
                      <a:solidFill>
                        <a:srgbClr val="2A3345"/>
                      </a:solidFill>
                      <a:prstDash val="solid"/>
                      <a:round/>
                      <a:headEnd type="none" w="med" len="med"/>
                      <a:tailEnd type="none" w="med" len="med"/>
                    </a:lnR>
                    <a:lnT w="9525" cap="flat" cmpd="sng" algn="ctr">
                      <a:solidFill>
                        <a:srgbClr val="2A3345"/>
                      </a:solidFill>
                      <a:prstDash val="solid"/>
                      <a:round/>
                      <a:headEnd type="none" w="med" len="med"/>
                      <a:tailEnd type="none" w="med" len="med"/>
                    </a:lnT>
                    <a:lnB w="9525" cap="flat" cmpd="sng" algn="ctr">
                      <a:solidFill>
                        <a:srgbClr val="2A3345"/>
                      </a:solidFill>
                      <a:prstDash val="solid"/>
                      <a:round/>
                      <a:headEnd type="none" w="med" len="med"/>
                      <a:tailEnd type="none" w="med" len="med"/>
                    </a:lnB>
                    <a:solidFill>
                      <a:srgbClr val="161B26"/>
                    </a:solidFill>
                  </a:tcPr>
                </a:tc>
              </a:tr>
              <a:tr h="384048">
                <a:tc>
                  <a:txBody>
                    <a:bodyPr/>
                    <a:lstStyle/>
                    <a:p>
                      <a:pPr indent="0" marL="0">
                        <a:buNone/>
                      </a:pPr>
                      <a:r>
                        <a:rPr lang="en-US" sz="1400" dirty="0">
                          <a:solidFill>
                            <a:srgbClr val="8B98A9"/>
                          </a:solidFill>
                          <a:latin typeface="Calibri" pitchFamily="34" charset="0"/>
                          <a:ea typeface="Calibri" pitchFamily="34" charset="-122"/>
                          <a:cs typeface="Calibri" pitchFamily="34" charset="-120"/>
                        </a:rPr>
                        <a:t>Revisions</a:t>
                      </a:r>
                      <a:endParaRPr lang="en-US" sz="1400" dirty="0">
                        <a:latin typeface="Calibri" charset="0"/>
                        <a:ea typeface="Calibri" charset="0"/>
                        <a:cs typeface="Calibri" charset="0"/>
                      </a:endParaRPr>
                    </a:p>
                  </a:txBody>
                  <a:tcPr marL="109728" marR="73152" marT="27432" marB="27432" anchor="ctr">
                    <a:lnL w="9525" cap="flat" cmpd="sng" algn="ctr">
                      <a:solidFill>
                        <a:srgbClr val="2A3345"/>
                      </a:solidFill>
                      <a:prstDash val="solid"/>
                      <a:round/>
                      <a:headEnd type="none" w="med" len="med"/>
                      <a:tailEnd type="none" w="med" len="med"/>
                    </a:lnL>
                    <a:lnR w="9525" cap="flat" cmpd="sng" algn="ctr">
                      <a:solidFill>
                        <a:srgbClr val="2A3345"/>
                      </a:solidFill>
                      <a:prstDash val="solid"/>
                      <a:round/>
                      <a:headEnd type="none" w="med" len="med"/>
                      <a:tailEnd type="none" w="med" len="med"/>
                    </a:lnR>
                    <a:lnT w="9525" cap="flat" cmpd="sng" algn="ctr">
                      <a:solidFill>
                        <a:srgbClr val="2A3345"/>
                      </a:solidFill>
                      <a:prstDash val="solid"/>
                      <a:round/>
                      <a:headEnd type="none" w="med" len="med"/>
                      <a:tailEnd type="none" w="med" len="med"/>
                    </a:lnT>
                    <a:lnB w="9525" cap="flat" cmpd="sng" algn="ctr">
                      <a:solidFill>
                        <a:srgbClr val="2A3345"/>
                      </a:solidFill>
                      <a:prstDash val="solid"/>
                      <a:round/>
                      <a:headEnd type="none" w="med" len="med"/>
                      <a:tailEnd type="none" w="med" len="med"/>
                    </a:lnB>
                    <a:solidFill>
                      <a:srgbClr val="161B26"/>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109728" marR="73152" marT="27432" marB="27432" anchor="ctr">
                    <a:lnL w="9525" cap="flat" cmpd="sng" algn="ctr">
                      <a:solidFill>
                        <a:srgbClr val="2A3345"/>
                      </a:solidFill>
                      <a:prstDash val="solid"/>
                      <a:round/>
                      <a:headEnd type="none" w="med" len="med"/>
                      <a:tailEnd type="none" w="med" len="med"/>
                    </a:lnL>
                    <a:lnR w="9525" cap="flat" cmpd="sng" algn="ctr">
                      <a:solidFill>
                        <a:srgbClr val="2A3345"/>
                      </a:solidFill>
                      <a:prstDash val="solid"/>
                      <a:round/>
                      <a:headEnd type="none" w="med" len="med"/>
                      <a:tailEnd type="none" w="med" len="med"/>
                    </a:lnR>
                    <a:lnT w="9525" cap="flat" cmpd="sng" algn="ctr">
                      <a:solidFill>
                        <a:srgbClr val="2A3345"/>
                      </a:solidFill>
                      <a:prstDash val="solid"/>
                      <a:round/>
                      <a:headEnd type="none" w="med" len="med"/>
                      <a:tailEnd type="none" w="med" len="med"/>
                    </a:lnT>
                    <a:lnB w="9525" cap="flat" cmpd="sng" algn="ctr">
                      <a:solidFill>
                        <a:srgbClr val="2A3345"/>
                      </a:solidFill>
                      <a:prstDash val="solid"/>
                      <a:round/>
                      <a:headEnd type="none" w="med" len="med"/>
                      <a:tailEnd type="none" w="med" len="med"/>
                    </a:lnB>
                    <a:solidFill>
                      <a:srgbClr val="161B26"/>
                    </a:solidFill>
                  </a:tcPr>
                </a:tc>
                <a:tc>
                  <a:txBody>
                    <a:bodyPr/>
                    <a:lstStyle/>
                    <a:p>
                      <a:pPr indent="0" marL="0">
                        <a:buNone/>
                      </a:pPr>
                      <a:r>
                        <a:rPr lang="en-US" sz="1400" b="1" dirty="0">
                          <a:solidFill>
                            <a:srgbClr val="3DDC97"/>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109728" marR="73152" marT="27432" marB="27432" anchor="ctr">
                    <a:lnL w="9525" cap="flat" cmpd="sng" algn="ctr">
                      <a:solidFill>
                        <a:srgbClr val="2A3345"/>
                      </a:solidFill>
                      <a:prstDash val="solid"/>
                      <a:round/>
                      <a:headEnd type="none" w="med" len="med"/>
                      <a:tailEnd type="none" w="med" len="med"/>
                    </a:lnL>
                    <a:lnR w="9525" cap="flat" cmpd="sng" algn="ctr">
                      <a:solidFill>
                        <a:srgbClr val="2A3345"/>
                      </a:solidFill>
                      <a:prstDash val="solid"/>
                      <a:round/>
                      <a:headEnd type="none" w="med" len="med"/>
                      <a:tailEnd type="none" w="med" len="med"/>
                    </a:lnR>
                    <a:lnT w="9525" cap="flat" cmpd="sng" algn="ctr">
                      <a:solidFill>
                        <a:srgbClr val="2A3345"/>
                      </a:solidFill>
                      <a:prstDash val="solid"/>
                      <a:round/>
                      <a:headEnd type="none" w="med" len="med"/>
                      <a:tailEnd type="none" w="med" len="med"/>
                    </a:lnT>
                    <a:lnB w="9525" cap="flat" cmpd="sng" algn="ctr">
                      <a:solidFill>
                        <a:srgbClr val="2A3345"/>
                      </a:solidFill>
                      <a:prstDash val="solid"/>
                      <a:round/>
                      <a:headEnd type="none" w="med" len="med"/>
                      <a:tailEnd type="none" w="med" len="med"/>
                    </a:lnB>
                    <a:solidFill>
                      <a:srgbClr val="161B26"/>
                    </a:solidFill>
                  </a:tcPr>
                </a:tc>
              </a:tr>
              <a:tr h="384048">
                <a:tc>
                  <a:txBody>
                    <a:bodyPr/>
                    <a:lstStyle/>
                    <a:p>
                      <a:pPr indent="0" marL="0">
                        <a:buNone/>
                      </a:pPr>
                      <a:r>
                        <a:rPr lang="en-US" sz="1400" dirty="0">
                          <a:solidFill>
                            <a:srgbClr val="8B98A9"/>
                          </a:solidFill>
                          <a:latin typeface="Calibri" pitchFamily="34" charset="0"/>
                          <a:ea typeface="Calibri" pitchFamily="34" charset="-122"/>
                          <a:cs typeface="Calibri" pitchFamily="34" charset="-120"/>
                        </a:rPr>
                        <a:t>Tokens</a:t>
                      </a:r>
                      <a:endParaRPr lang="en-US" sz="1400" dirty="0">
                        <a:latin typeface="Calibri" charset="0"/>
                        <a:ea typeface="Calibri" charset="0"/>
                        <a:cs typeface="Calibri" charset="0"/>
                      </a:endParaRPr>
                    </a:p>
                  </a:txBody>
                  <a:tcPr marL="109728" marR="73152" marT="27432" marB="27432" anchor="ctr">
                    <a:lnL w="9525" cap="flat" cmpd="sng" algn="ctr">
                      <a:solidFill>
                        <a:srgbClr val="2A3345"/>
                      </a:solidFill>
                      <a:prstDash val="solid"/>
                      <a:round/>
                      <a:headEnd type="none" w="med" len="med"/>
                      <a:tailEnd type="none" w="med" len="med"/>
                    </a:lnL>
                    <a:lnR w="9525" cap="flat" cmpd="sng" algn="ctr">
                      <a:solidFill>
                        <a:srgbClr val="2A3345"/>
                      </a:solidFill>
                      <a:prstDash val="solid"/>
                      <a:round/>
                      <a:headEnd type="none" w="med" len="med"/>
                      <a:tailEnd type="none" w="med" len="med"/>
                    </a:lnR>
                    <a:lnT w="9525" cap="flat" cmpd="sng" algn="ctr">
                      <a:solidFill>
                        <a:srgbClr val="2A3345"/>
                      </a:solidFill>
                      <a:prstDash val="solid"/>
                      <a:round/>
                      <a:headEnd type="none" w="med" len="med"/>
                      <a:tailEnd type="none" w="med" len="med"/>
                    </a:lnT>
                    <a:lnB w="9525" cap="flat" cmpd="sng" algn="ctr">
                      <a:solidFill>
                        <a:srgbClr val="2A3345"/>
                      </a:solidFill>
                      <a:prstDash val="solid"/>
                      <a:round/>
                      <a:headEnd type="none" w="med" len="med"/>
                      <a:tailEnd type="none" w="med" len="med"/>
                    </a:lnB>
                    <a:solidFill>
                      <a:srgbClr val="161B26"/>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28,411</a:t>
                      </a:r>
                      <a:endParaRPr lang="en-US" sz="1400" dirty="0">
                        <a:latin typeface="Calibri" charset="0"/>
                        <a:ea typeface="Calibri" charset="0"/>
                        <a:cs typeface="Calibri" charset="0"/>
                      </a:endParaRPr>
                    </a:p>
                  </a:txBody>
                  <a:tcPr marL="109728" marR="73152" marT="27432" marB="27432" anchor="ctr">
                    <a:lnL w="9525" cap="flat" cmpd="sng" algn="ctr">
                      <a:solidFill>
                        <a:srgbClr val="2A3345"/>
                      </a:solidFill>
                      <a:prstDash val="solid"/>
                      <a:round/>
                      <a:headEnd type="none" w="med" len="med"/>
                      <a:tailEnd type="none" w="med" len="med"/>
                    </a:lnL>
                    <a:lnR w="9525" cap="flat" cmpd="sng" algn="ctr">
                      <a:solidFill>
                        <a:srgbClr val="2A3345"/>
                      </a:solidFill>
                      <a:prstDash val="solid"/>
                      <a:round/>
                      <a:headEnd type="none" w="med" len="med"/>
                      <a:tailEnd type="none" w="med" len="med"/>
                    </a:lnR>
                    <a:lnT w="9525" cap="flat" cmpd="sng" algn="ctr">
                      <a:solidFill>
                        <a:srgbClr val="2A3345"/>
                      </a:solidFill>
                      <a:prstDash val="solid"/>
                      <a:round/>
                      <a:headEnd type="none" w="med" len="med"/>
                      <a:tailEnd type="none" w="med" len="med"/>
                    </a:lnT>
                    <a:lnB w="9525" cap="flat" cmpd="sng" algn="ctr">
                      <a:solidFill>
                        <a:srgbClr val="2A3345"/>
                      </a:solidFill>
                      <a:prstDash val="solid"/>
                      <a:round/>
                      <a:headEnd type="none" w="med" len="med"/>
                      <a:tailEnd type="none" w="med" len="med"/>
                    </a:lnB>
                    <a:solidFill>
                      <a:srgbClr val="161B26"/>
                    </a:solidFill>
                  </a:tcPr>
                </a:tc>
                <a:tc>
                  <a:txBody>
                    <a:bodyPr/>
                    <a:lstStyle/>
                    <a:p>
                      <a:pPr indent="0" marL="0">
                        <a:buNone/>
                      </a:pPr>
                      <a:r>
                        <a:rPr lang="en-US" sz="1400" b="1" dirty="0">
                          <a:solidFill>
                            <a:srgbClr val="3DDC97"/>
                          </a:solidFill>
                          <a:latin typeface="Calibri" pitchFamily="34" charset="0"/>
                          <a:ea typeface="Calibri" pitchFamily="34" charset="-122"/>
                          <a:cs typeface="Calibri" pitchFamily="34" charset="-120"/>
                        </a:rPr>
                        <a:t>13,604</a:t>
                      </a:r>
                      <a:endParaRPr lang="en-US" sz="1400" dirty="0">
                        <a:latin typeface="Calibri" charset="0"/>
                        <a:ea typeface="Calibri" charset="0"/>
                        <a:cs typeface="Calibri" charset="0"/>
                      </a:endParaRPr>
                    </a:p>
                  </a:txBody>
                  <a:tcPr marL="109728" marR="73152" marT="27432" marB="27432" anchor="ctr">
                    <a:lnL w="9525" cap="flat" cmpd="sng" algn="ctr">
                      <a:solidFill>
                        <a:srgbClr val="2A3345"/>
                      </a:solidFill>
                      <a:prstDash val="solid"/>
                      <a:round/>
                      <a:headEnd type="none" w="med" len="med"/>
                      <a:tailEnd type="none" w="med" len="med"/>
                    </a:lnL>
                    <a:lnR w="9525" cap="flat" cmpd="sng" algn="ctr">
                      <a:solidFill>
                        <a:srgbClr val="2A3345"/>
                      </a:solidFill>
                      <a:prstDash val="solid"/>
                      <a:round/>
                      <a:headEnd type="none" w="med" len="med"/>
                      <a:tailEnd type="none" w="med" len="med"/>
                    </a:lnR>
                    <a:lnT w="9525" cap="flat" cmpd="sng" algn="ctr">
                      <a:solidFill>
                        <a:srgbClr val="2A3345"/>
                      </a:solidFill>
                      <a:prstDash val="solid"/>
                      <a:round/>
                      <a:headEnd type="none" w="med" len="med"/>
                      <a:tailEnd type="none" w="med" len="med"/>
                    </a:lnT>
                    <a:lnB w="9525" cap="flat" cmpd="sng" algn="ctr">
                      <a:solidFill>
                        <a:srgbClr val="2A3345"/>
                      </a:solidFill>
                      <a:prstDash val="solid"/>
                      <a:round/>
                      <a:headEnd type="none" w="med" len="med"/>
                      <a:tailEnd type="none" w="med" len="med"/>
                    </a:lnB>
                    <a:solidFill>
                      <a:srgbClr val="161B26"/>
                    </a:solidFill>
                  </a:tcPr>
                </a:tc>
              </a:tr>
              <a:tr h="384048">
                <a:tc>
                  <a:txBody>
                    <a:bodyPr/>
                    <a:lstStyle/>
                    <a:p>
                      <a:pPr indent="0" marL="0">
                        <a:buNone/>
                      </a:pPr>
                      <a:r>
                        <a:rPr lang="en-US" sz="1400" dirty="0">
                          <a:solidFill>
                            <a:srgbClr val="8B98A9"/>
                          </a:solidFill>
                          <a:latin typeface="Calibri" pitchFamily="34" charset="0"/>
                          <a:ea typeface="Calibri" pitchFamily="34" charset="-122"/>
                          <a:cs typeface="Calibri" pitchFamily="34" charset="-120"/>
                        </a:rPr>
                        <a:t>Plan step 1</a:t>
                      </a:r>
                      <a:endParaRPr lang="en-US" sz="1400" dirty="0">
                        <a:latin typeface="Calibri" charset="0"/>
                        <a:ea typeface="Calibri" charset="0"/>
                        <a:cs typeface="Calibri" charset="0"/>
                      </a:endParaRPr>
                    </a:p>
                  </a:txBody>
                  <a:tcPr marL="109728" marR="73152" marT="27432" marB="27432" anchor="ctr">
                    <a:lnL w="9525" cap="flat" cmpd="sng" algn="ctr">
                      <a:solidFill>
                        <a:srgbClr val="2A3345"/>
                      </a:solidFill>
                      <a:prstDash val="solid"/>
                      <a:round/>
                      <a:headEnd type="none" w="med" len="med"/>
                      <a:tailEnd type="none" w="med" len="med"/>
                    </a:lnL>
                    <a:lnR w="9525" cap="flat" cmpd="sng" algn="ctr">
                      <a:solidFill>
                        <a:srgbClr val="2A3345"/>
                      </a:solidFill>
                      <a:prstDash val="solid"/>
                      <a:round/>
                      <a:headEnd type="none" w="med" len="med"/>
                      <a:tailEnd type="none" w="med" len="med"/>
                    </a:lnR>
                    <a:lnT w="9525" cap="flat" cmpd="sng" algn="ctr">
                      <a:solidFill>
                        <a:srgbClr val="2A3345"/>
                      </a:solidFill>
                      <a:prstDash val="solid"/>
                      <a:round/>
                      <a:headEnd type="none" w="med" len="med"/>
                      <a:tailEnd type="none" w="med" len="med"/>
                    </a:lnT>
                    <a:lnB w="9525" cap="flat" cmpd="sng" algn="ctr">
                      <a:solidFill>
                        <a:srgbClr val="2A3345"/>
                      </a:solidFill>
                      <a:prstDash val="solid"/>
                      <a:round/>
                      <a:headEnd type="none" w="med" len="med"/>
                      <a:tailEnd type="none" w="med" len="med"/>
                    </a:lnB>
                    <a:solidFill>
                      <a:srgbClr val="161B26"/>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web search</a:t>
                      </a:r>
                      <a:endParaRPr lang="en-US" sz="1400" dirty="0">
                        <a:latin typeface="Calibri" charset="0"/>
                        <a:ea typeface="Calibri" charset="0"/>
                        <a:cs typeface="Calibri" charset="0"/>
                      </a:endParaRPr>
                    </a:p>
                  </a:txBody>
                  <a:tcPr marL="109728" marR="73152" marT="27432" marB="27432" anchor="ctr">
                    <a:lnL w="9525" cap="flat" cmpd="sng" algn="ctr">
                      <a:solidFill>
                        <a:srgbClr val="2A3345"/>
                      </a:solidFill>
                      <a:prstDash val="solid"/>
                      <a:round/>
                      <a:headEnd type="none" w="med" len="med"/>
                      <a:tailEnd type="none" w="med" len="med"/>
                    </a:lnL>
                    <a:lnR w="9525" cap="flat" cmpd="sng" algn="ctr">
                      <a:solidFill>
                        <a:srgbClr val="2A3345"/>
                      </a:solidFill>
                      <a:prstDash val="solid"/>
                      <a:round/>
                      <a:headEnd type="none" w="med" len="med"/>
                      <a:tailEnd type="none" w="med" len="med"/>
                    </a:lnR>
                    <a:lnT w="9525" cap="flat" cmpd="sng" algn="ctr">
                      <a:solidFill>
                        <a:srgbClr val="2A3345"/>
                      </a:solidFill>
                      <a:prstDash val="solid"/>
                      <a:round/>
                      <a:headEnd type="none" w="med" len="med"/>
                      <a:tailEnd type="none" w="med" len="med"/>
                    </a:lnT>
                    <a:lnB w="9525" cap="flat" cmpd="sng" algn="ctr">
                      <a:solidFill>
                        <a:srgbClr val="2A3345"/>
                      </a:solidFill>
                      <a:prstDash val="solid"/>
                      <a:round/>
                      <a:headEnd type="none" w="med" len="med"/>
                      <a:tailEnd type="none" w="med" len="med"/>
                    </a:lnB>
                    <a:solidFill>
                      <a:srgbClr val="161B26"/>
                    </a:solidFill>
                  </a:tcPr>
                </a:tc>
                <a:tc>
                  <a:txBody>
                    <a:bodyPr/>
                    <a:lstStyle/>
                    <a:p>
                      <a:pPr indent="0" marL="0">
                        <a:buNone/>
                      </a:pPr>
                      <a:r>
                        <a:rPr lang="en-US" sz="1400" dirty="0">
                          <a:solidFill>
                            <a:srgbClr val="E6EDF3"/>
                          </a:solidFill>
                          <a:latin typeface="Calibri" pitchFamily="34" charset="0"/>
                          <a:ea typeface="Calibri" pitchFamily="34" charset="-122"/>
                          <a:cs typeface="Calibri" pitchFamily="34" charset="-120"/>
                        </a:rPr>
                        <a:t>fetch the official pricing page</a:t>
                      </a:r>
                      <a:endParaRPr lang="en-US" sz="1400" dirty="0">
                        <a:latin typeface="Calibri" charset="0"/>
                        <a:ea typeface="Calibri" charset="0"/>
                        <a:cs typeface="Calibri" charset="0"/>
                      </a:endParaRPr>
                    </a:p>
                  </a:txBody>
                  <a:tcPr marL="109728" marR="73152" marT="27432" marB="27432" anchor="ctr">
                    <a:lnL w="9525" cap="flat" cmpd="sng" algn="ctr">
                      <a:solidFill>
                        <a:srgbClr val="2A3345"/>
                      </a:solidFill>
                      <a:prstDash val="solid"/>
                      <a:round/>
                      <a:headEnd type="none" w="med" len="med"/>
                      <a:tailEnd type="none" w="med" len="med"/>
                    </a:lnL>
                    <a:lnR w="9525" cap="flat" cmpd="sng" algn="ctr">
                      <a:solidFill>
                        <a:srgbClr val="2A3345"/>
                      </a:solidFill>
                      <a:prstDash val="solid"/>
                      <a:round/>
                      <a:headEnd type="none" w="med" len="med"/>
                      <a:tailEnd type="none" w="med" len="med"/>
                    </a:lnR>
                    <a:lnT w="9525" cap="flat" cmpd="sng" algn="ctr">
                      <a:solidFill>
                        <a:srgbClr val="2A3345"/>
                      </a:solidFill>
                      <a:prstDash val="solid"/>
                      <a:round/>
                      <a:headEnd type="none" w="med" len="med"/>
                      <a:tailEnd type="none" w="med" len="med"/>
                    </a:lnT>
                    <a:lnB w="9525" cap="flat" cmpd="sng" algn="ctr">
                      <a:solidFill>
                        <a:srgbClr val="2A3345"/>
                      </a:solidFill>
                      <a:prstDash val="solid"/>
                      <a:round/>
                      <a:headEnd type="none" w="med" len="med"/>
                      <a:tailEnd type="none" w="med" len="med"/>
                    </a:lnB>
                    <a:solidFill>
                      <a:srgbClr val="161B26"/>
                    </a:solidFill>
                  </a:tcPr>
                </a:tc>
              </a:tr>
            </a:tbl>
          </a:graphicData>
        </a:graphic>
      </p:graphicFrame>
      <p:sp>
        <p:nvSpPr>
          <p:cNvPr id="14" name="Text 11"/>
          <p:cNvSpPr txBox="1"/>
          <p:nvPr/>
        </p:nvSpPr>
        <p:spPr>
          <a:xfrm>
            <a:off x="548640" y="5120640"/>
            <a:ext cx="6766560" cy="1097280"/>
          </a:xfrm>
          <a:prstGeom prst="rect">
            <a:avLst/>
          </a:prstGeom>
          <a:noFill/>
          <a:ln/>
        </p:spPr>
        <p:txBody>
          <a:bodyPr wrap="square" lIns="0" tIns="0" rIns="0" bIns="0" rtlCol="0" anchor="t"/>
          <a:lstStyle/>
          <a:p>
            <a:pPr indent="0" marL="0">
              <a:spcAft>
                <a:spcPts val="600"/>
              </a:spcAft>
              <a:buNone/>
            </a:pPr>
            <a:r>
              <a:rPr lang="en-US" sz="1300" b="1" dirty="0">
                <a:solidFill>
                  <a:srgbClr val="E6EDF3"/>
                </a:solidFill>
                <a:latin typeface="Calibri" pitchFamily="34" charset="0"/>
                <a:ea typeface="Calibri" pitchFamily="34" charset="-122"/>
                <a:cs typeface="Calibri" pitchFamily="34" charset="-120"/>
              </a:rPr>
              <a:t>Controlled: </a:t>
            </a:r>
            <a:pPr indent="0" marL="0">
              <a:spcAft>
                <a:spcPts val="600"/>
              </a:spcAft>
              <a:buNone/>
            </a:pPr>
            <a:r>
              <a:rPr lang="en-US" sz="1300" dirty="0">
                <a:solidFill>
                  <a:srgbClr val="8B98A9"/>
                </a:solidFill>
                <a:latin typeface="Calibri" pitchFamily="34" charset="0"/>
                <a:ea typeface="Calibri" pitchFamily="34" charset="-122"/>
                <a:cs typeface="Calibri" pitchFamily="34" charset="-120"/>
              </a:rPr>
              <a:t>qwen3.8-27b for every role, critic gpt-oss-120b, fresh memory DB, model fallbacks off.</a:t>
            </a:r>
            <a:endParaRPr lang="en-US" sz="1300" dirty="0"/>
          </a:p>
          <a:p>
            <a:pPr indent="0" marL="0">
              <a:spcAft>
                <a:spcPts val="600"/>
              </a:spcAft>
              <a:buNone/>
            </a:pPr>
            <a:r>
              <a:rPr lang="en-US" sz="1300" b="1" dirty="0">
                <a:solidFill>
                  <a:srgbClr val="F5B83D"/>
                </a:solidFill>
                <a:latin typeface="Calibri" pitchFamily="34" charset="0"/>
                <a:ea typeface="Calibri" pitchFamily="34" charset="-122"/>
                <a:cs typeface="Calibri" pitchFamily="34" charset="-120"/>
              </a:rPr>
              <a:t>Honest note: </a:t>
            </a:r>
            <a:pPr indent="0" marL="0">
              <a:spcAft>
                <a:spcPts val="600"/>
              </a:spcAft>
              <a:buNone/>
            </a:pPr>
            <a:r>
              <a:rPr lang="en-US" sz="1300" dirty="0">
                <a:solidFill>
                  <a:srgbClr val="8B98A9"/>
                </a:solidFill>
                <a:latin typeface="Calibri" pitchFamily="34" charset="0"/>
                <a:ea typeface="Calibri" pitchFamily="34" charset="-122"/>
                <a:cs typeface="Calibri" pitchFamily="34" charset="-120"/>
              </a:rPr>
              <a:t>run #3 dropped to 4/10; fixing how trusted pages are read came from that failure.</a:t>
            </a:r>
            <a:endParaRPr lang="en-US" sz="1300" dirty="0"/>
          </a:p>
        </p:txBody>
      </p:sp>
      <p:sp>
        <p:nvSpPr>
          <p:cNvPr id="15" name="Shape 12"/>
          <p:cNvSpPr/>
          <p:nvPr/>
        </p:nvSpPr>
        <p:spPr>
          <a:xfrm>
            <a:off x="7635240" y="3063240"/>
            <a:ext cx="4007815" cy="3154680"/>
          </a:xfrm>
          <a:prstGeom prst="roundRect">
            <a:avLst>
              <a:gd name="adj" fmla="val 3478"/>
            </a:avLst>
          </a:prstGeom>
          <a:solidFill>
            <a:srgbClr val="161B26"/>
          </a:solidFill>
          <a:ln w="12700">
            <a:solidFill>
              <a:srgbClr val="2A3345"/>
            </a:solidFill>
            <a:prstDash val="solid"/>
          </a:ln>
        </p:spPr>
      </p:sp>
      <p:graphicFrame>
        <p:nvGraphicFramePr>
          <p:cNvPr id="16" name="Chart 0" descr=""/>
          <p:cNvGraphicFramePr/>
          <p:nvPr/>
        </p:nvGraphicFramePr>
        <p:xfrm>
          <a:off x="7772400" y="3154680"/>
          <a:ext cx="3733495" cy="2971800"/>
        </p:xfrm>
        <a:graphic xmlns:a="http://schemas.openxmlformats.org/drawingml/2006/main">
          <a:graphicData uri="http://schemas.openxmlformats.org/drawingml/2006/chart">
            <c:chart xmlns:c="http://schemas.openxmlformats.org/drawingml/2006/chart" r:id="rId1"/>
          </a:graphicData>
        </a:graphic>
      </p:graphicFrame>
      <p:sp>
        <p:nvSpPr>
          <p:cNvPr id="17" name="Text 1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B98A9"/>
                </a:solidFill>
                <a:latin typeface="Calibri" pitchFamily="34" charset="0"/>
                <a:ea typeface="Calibri" pitchFamily="34" charset="-122"/>
                <a:cs typeface="Calibri" pitchFamily="34" charset="-120"/>
              </a:rPr>
              <a:t>Self-Improving Research Agent  ·  3 / 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320040"/>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DEMO HIGHLIGHTS  ·  asad-research-agent.streamlit.app</a:t>
            </a:r>
            <a:endParaRPr lang="en-US" sz="13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E6EDF3"/>
                </a:solidFill>
                <a:latin typeface="Arial" pitchFamily="34" charset="0"/>
                <a:ea typeface="Arial" pitchFamily="34" charset="-122"/>
                <a:cs typeface="Arial" pitchFamily="34" charset="-120"/>
              </a:rPr>
              <a:t>What you see in the app</a:t>
            </a:r>
            <a:endParaRPr lang="en-US" sz="3000" dirty="0"/>
          </a:p>
        </p:txBody>
      </p:sp>
      <p:sp>
        <p:nvSpPr>
          <p:cNvPr id="4" name="Shape 2"/>
          <p:cNvSpPr/>
          <p:nvPr/>
        </p:nvSpPr>
        <p:spPr>
          <a:xfrm>
            <a:off x="548640" y="1508760"/>
            <a:ext cx="3429000" cy="1417320"/>
          </a:xfrm>
          <a:prstGeom prst="roundRect">
            <a:avLst>
              <a:gd name="adj" fmla="val 7742"/>
            </a:avLst>
          </a:prstGeom>
          <a:solidFill>
            <a:srgbClr val="161B26"/>
          </a:solidFill>
          <a:ln w="12700">
            <a:solidFill>
              <a:srgbClr val="2A3345"/>
            </a:solidFill>
            <a:prstDash val="solid"/>
          </a:ln>
        </p:spPr>
      </p:sp>
      <p:sp>
        <p:nvSpPr>
          <p:cNvPr id="5" name="Shape 3"/>
          <p:cNvSpPr/>
          <p:nvPr/>
        </p:nvSpPr>
        <p:spPr>
          <a:xfrm>
            <a:off x="777240" y="1737360"/>
            <a:ext cx="384048" cy="384048"/>
          </a:xfrm>
          <a:prstGeom prst="ellipse">
            <a:avLst/>
          </a:prstGeom>
          <a:solidFill>
            <a:srgbClr val="7AA2F7"/>
          </a:solidFill>
          <a:ln/>
        </p:spPr>
      </p:sp>
      <p:sp>
        <p:nvSpPr>
          <p:cNvPr id="6" name="Text 4"/>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400" b="1" dirty="0">
                <a:solidFill>
                  <a:srgbClr val="0E1117"/>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325880" y="1737360"/>
            <a:ext cx="2468880" cy="384048"/>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Live plan checklist</a:t>
            </a:r>
            <a:endParaRPr lang="en-US" sz="1600" dirty="0"/>
          </a:p>
        </p:txBody>
      </p:sp>
      <p:sp>
        <p:nvSpPr>
          <p:cNvPr id="8" name="Text 6"/>
          <p:cNvSpPr txBox="1"/>
          <p:nvPr/>
        </p:nvSpPr>
        <p:spPr>
          <a:xfrm>
            <a:off x="777240" y="2221992"/>
            <a:ext cx="2971800" cy="640080"/>
          </a:xfrm>
          <a:prstGeom prst="rect">
            <a:avLst/>
          </a:prstGeom>
          <a:noFill/>
          <a:ln/>
        </p:spPr>
        <p:txBody>
          <a:bodyPr wrap="square" lIns="0" tIns="0" rIns="0" bIns="0" rtlCol="0" anchor="t"/>
          <a:lstStyle/>
          <a:p>
            <a:pPr indent="0" marL="0">
              <a:buNone/>
            </a:pPr>
            <a:r>
              <a:rPr lang="en-US" sz="1300" dirty="0">
                <a:solidFill>
                  <a:srgbClr val="8B98A9"/>
                </a:solidFill>
                <a:latin typeface="Calibri" pitchFamily="34" charset="0"/>
                <a:ea typeface="Calibri" pitchFamily="34" charset="-122"/>
                <a:cs typeface="Calibri" pitchFamily="34" charset="-120"/>
              </a:rPr>
              <a:t>Each step ticks off as it finishes; steps the critic asked for are marked fix-up.</a:t>
            </a:r>
            <a:endParaRPr lang="en-US" sz="1300" dirty="0"/>
          </a:p>
        </p:txBody>
      </p:sp>
      <p:sp>
        <p:nvSpPr>
          <p:cNvPr id="9" name="Shape 7"/>
          <p:cNvSpPr/>
          <p:nvPr/>
        </p:nvSpPr>
        <p:spPr>
          <a:xfrm>
            <a:off x="4251960" y="1508760"/>
            <a:ext cx="3429000" cy="1417320"/>
          </a:xfrm>
          <a:prstGeom prst="roundRect">
            <a:avLst>
              <a:gd name="adj" fmla="val 7742"/>
            </a:avLst>
          </a:prstGeom>
          <a:solidFill>
            <a:srgbClr val="161B26"/>
          </a:solidFill>
          <a:ln w="12700">
            <a:solidFill>
              <a:srgbClr val="2A3345"/>
            </a:solidFill>
            <a:prstDash val="solid"/>
          </a:ln>
        </p:spPr>
      </p:sp>
      <p:sp>
        <p:nvSpPr>
          <p:cNvPr id="10" name="Shape 8"/>
          <p:cNvSpPr/>
          <p:nvPr/>
        </p:nvSpPr>
        <p:spPr>
          <a:xfrm>
            <a:off x="4480560" y="1737360"/>
            <a:ext cx="384048" cy="384048"/>
          </a:xfrm>
          <a:prstGeom prst="ellipse">
            <a:avLst/>
          </a:prstGeom>
          <a:solidFill>
            <a:srgbClr val="7AA2F7"/>
          </a:solidFill>
          <a:ln/>
        </p:spPr>
      </p:sp>
      <p:sp>
        <p:nvSpPr>
          <p:cNvPr id="11" name="Text 9"/>
          <p:cNvSpPr txBox="1"/>
          <p:nvPr/>
        </p:nvSpPr>
        <p:spPr>
          <a:xfrm>
            <a:off x="4480560" y="1737360"/>
            <a:ext cx="384048" cy="384048"/>
          </a:xfrm>
          <a:prstGeom prst="rect">
            <a:avLst/>
          </a:prstGeom>
          <a:noFill/>
          <a:ln/>
        </p:spPr>
        <p:txBody>
          <a:bodyPr wrap="square" lIns="0" tIns="0" rIns="0" bIns="0" rtlCol="0" anchor="ctr"/>
          <a:lstStyle/>
          <a:p>
            <a:pPr algn="ctr" indent="0" marL="0">
              <a:buNone/>
            </a:pPr>
            <a:r>
              <a:rPr lang="en-US" sz="1400" b="1" dirty="0">
                <a:solidFill>
                  <a:srgbClr val="0E1117"/>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5029200" y="1737360"/>
            <a:ext cx="2468880" cy="384048"/>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Per-event trace</a:t>
            </a:r>
            <a:endParaRPr lang="en-US" sz="1600" dirty="0"/>
          </a:p>
        </p:txBody>
      </p:sp>
      <p:sp>
        <p:nvSpPr>
          <p:cNvPr id="13" name="Text 11"/>
          <p:cNvSpPr txBox="1"/>
          <p:nvPr/>
        </p:nvSpPr>
        <p:spPr>
          <a:xfrm>
            <a:off x="4480560" y="2221992"/>
            <a:ext cx="2971800" cy="640080"/>
          </a:xfrm>
          <a:prstGeom prst="rect">
            <a:avLst/>
          </a:prstGeom>
          <a:noFill/>
          <a:ln/>
        </p:spPr>
        <p:txBody>
          <a:bodyPr wrap="square" lIns="0" tIns="0" rIns="0" bIns="0" rtlCol="0" anchor="t"/>
          <a:lstStyle/>
          <a:p>
            <a:pPr indent="0" marL="0">
              <a:buNone/>
            </a:pPr>
            <a:r>
              <a:rPr lang="en-US" sz="1300" dirty="0">
                <a:solidFill>
                  <a:srgbClr val="8B98A9"/>
                </a:solidFill>
                <a:latin typeface="Calibri" pitchFamily="34" charset="0"/>
                <a:ea typeface="Calibri" pitchFamily="34" charset="-122"/>
                <a:cs typeface="Calibri" pitchFamily="34" charset="-120"/>
              </a:rPr>
              <a:t>memory · plan · think · act · observe · verify · critique · learn, as they happen.</a:t>
            </a:r>
            <a:endParaRPr lang="en-US" sz="1300" dirty="0"/>
          </a:p>
        </p:txBody>
      </p:sp>
      <p:sp>
        <p:nvSpPr>
          <p:cNvPr id="14" name="Shape 12"/>
          <p:cNvSpPr/>
          <p:nvPr/>
        </p:nvSpPr>
        <p:spPr>
          <a:xfrm>
            <a:off x="548640" y="3200400"/>
            <a:ext cx="3429000" cy="1417320"/>
          </a:xfrm>
          <a:prstGeom prst="roundRect">
            <a:avLst>
              <a:gd name="adj" fmla="val 7742"/>
            </a:avLst>
          </a:prstGeom>
          <a:solidFill>
            <a:srgbClr val="161B26"/>
          </a:solidFill>
          <a:ln w="12700">
            <a:solidFill>
              <a:srgbClr val="2A3345"/>
            </a:solidFill>
            <a:prstDash val="solid"/>
          </a:ln>
        </p:spPr>
      </p:sp>
      <p:sp>
        <p:nvSpPr>
          <p:cNvPr id="15" name="Shape 13"/>
          <p:cNvSpPr/>
          <p:nvPr/>
        </p:nvSpPr>
        <p:spPr>
          <a:xfrm>
            <a:off x="777240" y="3429000"/>
            <a:ext cx="384048" cy="384048"/>
          </a:xfrm>
          <a:prstGeom prst="ellipse">
            <a:avLst/>
          </a:prstGeom>
          <a:solidFill>
            <a:srgbClr val="F5B83D"/>
          </a:solidFill>
          <a:ln/>
        </p:spPr>
      </p:sp>
      <p:sp>
        <p:nvSpPr>
          <p:cNvPr id="16" name="Text 14"/>
          <p:cNvSpPr txBox="1"/>
          <p:nvPr/>
        </p:nvSpPr>
        <p:spPr>
          <a:xfrm>
            <a:off x="777240" y="3429000"/>
            <a:ext cx="384048" cy="384048"/>
          </a:xfrm>
          <a:prstGeom prst="rect">
            <a:avLst/>
          </a:prstGeom>
          <a:noFill/>
          <a:ln/>
        </p:spPr>
        <p:txBody>
          <a:bodyPr wrap="square" lIns="0" tIns="0" rIns="0" bIns="0" rtlCol="0" anchor="ctr"/>
          <a:lstStyle/>
          <a:p>
            <a:pPr algn="ctr" indent="0" marL="0">
              <a:buNone/>
            </a:pPr>
            <a:r>
              <a:rPr lang="en-US" sz="1400" b="1" dirty="0">
                <a:solidFill>
                  <a:srgbClr val="0E1117"/>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1325880" y="3429000"/>
            <a:ext cx="2468880" cy="384048"/>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Critic score and report</a:t>
            </a:r>
            <a:endParaRPr lang="en-US" sz="1600" dirty="0"/>
          </a:p>
        </p:txBody>
      </p:sp>
      <p:sp>
        <p:nvSpPr>
          <p:cNvPr id="18" name="Text 16"/>
          <p:cNvSpPr txBox="1"/>
          <p:nvPr/>
        </p:nvSpPr>
        <p:spPr>
          <a:xfrm>
            <a:off x="777240" y="3913632"/>
            <a:ext cx="2971800" cy="640080"/>
          </a:xfrm>
          <a:prstGeom prst="rect">
            <a:avLst/>
          </a:prstGeom>
          <a:noFill/>
          <a:ln/>
        </p:spPr>
        <p:txBody>
          <a:bodyPr wrap="square" lIns="0" tIns="0" rIns="0" bIns="0" rtlCol="0" anchor="t"/>
          <a:lstStyle/>
          <a:p>
            <a:pPr indent="0" marL="0">
              <a:buNone/>
            </a:pPr>
            <a:r>
              <a:rPr lang="en-US" sz="1300" dirty="0">
                <a:solidFill>
                  <a:srgbClr val="8B98A9"/>
                </a:solidFill>
                <a:latin typeface="Calibri" pitchFamily="34" charset="0"/>
                <a:ea typeface="Calibri" pitchFamily="34" charset="-122"/>
                <a:cs typeface="Calibri" pitchFamily="34" charset="-120"/>
              </a:rPr>
              <a:t>Score, revisions, the cited report with a download button, tokens per model.</a:t>
            </a:r>
            <a:endParaRPr lang="en-US" sz="1300" dirty="0"/>
          </a:p>
        </p:txBody>
      </p:sp>
      <p:sp>
        <p:nvSpPr>
          <p:cNvPr id="19" name="Shape 17"/>
          <p:cNvSpPr/>
          <p:nvPr/>
        </p:nvSpPr>
        <p:spPr>
          <a:xfrm>
            <a:off x="4251960" y="3200400"/>
            <a:ext cx="3429000" cy="1417320"/>
          </a:xfrm>
          <a:prstGeom prst="roundRect">
            <a:avLst>
              <a:gd name="adj" fmla="val 7742"/>
            </a:avLst>
          </a:prstGeom>
          <a:solidFill>
            <a:srgbClr val="161B26"/>
          </a:solidFill>
          <a:ln w="12700">
            <a:solidFill>
              <a:srgbClr val="2A3345"/>
            </a:solidFill>
            <a:prstDash val="solid"/>
          </a:ln>
        </p:spPr>
      </p:sp>
      <p:sp>
        <p:nvSpPr>
          <p:cNvPr id="20" name="Shape 18"/>
          <p:cNvSpPr/>
          <p:nvPr/>
        </p:nvSpPr>
        <p:spPr>
          <a:xfrm>
            <a:off x="4480560" y="3429000"/>
            <a:ext cx="384048" cy="384048"/>
          </a:xfrm>
          <a:prstGeom prst="ellipse">
            <a:avLst/>
          </a:prstGeom>
          <a:solidFill>
            <a:srgbClr val="3DDC97"/>
          </a:solidFill>
          <a:ln/>
        </p:spPr>
      </p:sp>
      <p:sp>
        <p:nvSpPr>
          <p:cNvPr id="21" name="Text 19"/>
          <p:cNvSpPr txBox="1"/>
          <p:nvPr/>
        </p:nvSpPr>
        <p:spPr>
          <a:xfrm>
            <a:off x="4480560" y="3429000"/>
            <a:ext cx="384048" cy="384048"/>
          </a:xfrm>
          <a:prstGeom prst="rect">
            <a:avLst/>
          </a:prstGeom>
          <a:noFill/>
          <a:ln/>
        </p:spPr>
        <p:txBody>
          <a:bodyPr wrap="square" lIns="0" tIns="0" rIns="0" bIns="0" rtlCol="0" anchor="ctr"/>
          <a:lstStyle/>
          <a:p>
            <a:pPr algn="ctr" indent="0" marL="0">
              <a:buNone/>
            </a:pPr>
            <a:r>
              <a:rPr lang="en-US" sz="1400" b="1" dirty="0">
                <a:solidFill>
                  <a:srgbClr val="0E1117"/>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5029200" y="3429000"/>
            <a:ext cx="2468880" cy="384048"/>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Memory tab</a:t>
            </a:r>
            <a:endParaRPr lang="en-US" sz="1600" dirty="0"/>
          </a:p>
        </p:txBody>
      </p:sp>
      <p:sp>
        <p:nvSpPr>
          <p:cNvPr id="23" name="Text 21"/>
          <p:cNvSpPr txBox="1"/>
          <p:nvPr/>
        </p:nvSpPr>
        <p:spPr>
          <a:xfrm>
            <a:off x="4480560" y="3913632"/>
            <a:ext cx="2971800" cy="640080"/>
          </a:xfrm>
          <a:prstGeom prst="rect">
            <a:avLst/>
          </a:prstGeom>
          <a:noFill/>
          <a:ln/>
        </p:spPr>
        <p:txBody>
          <a:bodyPr wrap="square" lIns="0" tIns="0" rIns="0" bIns="0" rtlCol="0" anchor="t"/>
          <a:lstStyle/>
          <a:p>
            <a:pPr indent="0" marL="0">
              <a:buNone/>
            </a:pPr>
            <a:r>
              <a:rPr lang="en-US" sz="1300" dirty="0">
                <a:solidFill>
                  <a:srgbClr val="8B98A9"/>
                </a:solidFill>
                <a:latin typeface="Calibri" pitchFamily="34" charset="0"/>
                <a:ea typeface="Calibri" pitchFamily="34" charset="-122"/>
                <a:cs typeface="Calibri" pitchFamily="34" charset="-120"/>
              </a:rPr>
              <a:t>Runs chart, lessons with seen / used / helpful counts, trusted sources with verified facts.</a:t>
            </a:r>
            <a:endParaRPr lang="en-US" sz="1300" dirty="0"/>
          </a:p>
        </p:txBody>
      </p:sp>
      <p:sp>
        <p:nvSpPr>
          <p:cNvPr id="24" name="Shape 22"/>
          <p:cNvSpPr/>
          <p:nvPr/>
        </p:nvSpPr>
        <p:spPr>
          <a:xfrm>
            <a:off x="548640" y="4892040"/>
            <a:ext cx="3429000" cy="1417320"/>
          </a:xfrm>
          <a:prstGeom prst="roundRect">
            <a:avLst>
              <a:gd name="adj" fmla="val 7742"/>
            </a:avLst>
          </a:prstGeom>
          <a:solidFill>
            <a:srgbClr val="161B26"/>
          </a:solidFill>
          <a:ln w="12700">
            <a:solidFill>
              <a:srgbClr val="2A3345"/>
            </a:solidFill>
            <a:prstDash val="solid"/>
          </a:ln>
        </p:spPr>
      </p:sp>
      <p:sp>
        <p:nvSpPr>
          <p:cNvPr id="25" name="Shape 23"/>
          <p:cNvSpPr/>
          <p:nvPr/>
        </p:nvSpPr>
        <p:spPr>
          <a:xfrm>
            <a:off x="777240" y="5120640"/>
            <a:ext cx="384048" cy="384048"/>
          </a:xfrm>
          <a:prstGeom prst="ellipse">
            <a:avLst/>
          </a:prstGeom>
          <a:solidFill>
            <a:srgbClr val="3DDC97"/>
          </a:solidFill>
          <a:ln/>
        </p:spPr>
      </p:sp>
      <p:sp>
        <p:nvSpPr>
          <p:cNvPr id="26" name="Text 24"/>
          <p:cNvSpPr txBox="1"/>
          <p:nvPr/>
        </p:nvSpPr>
        <p:spPr>
          <a:xfrm>
            <a:off x="777240" y="5120640"/>
            <a:ext cx="384048" cy="384048"/>
          </a:xfrm>
          <a:prstGeom prst="rect">
            <a:avLst/>
          </a:prstGeom>
          <a:noFill/>
          <a:ln/>
        </p:spPr>
        <p:txBody>
          <a:bodyPr wrap="square" lIns="0" tIns="0" rIns="0" bIns="0" rtlCol="0" anchor="ctr"/>
          <a:lstStyle/>
          <a:p>
            <a:pPr algn="ctr" indent="0" marL="0">
              <a:buNone/>
            </a:pPr>
            <a:r>
              <a:rPr lang="en-US" sz="1400" b="1" dirty="0">
                <a:solidFill>
                  <a:srgbClr val="0E1117"/>
                </a:solidFill>
                <a:latin typeface="Arial" pitchFamily="34" charset="0"/>
                <a:ea typeface="Arial" pitchFamily="34" charset="-122"/>
                <a:cs typeface="Arial" pitchFamily="34" charset="-120"/>
              </a:rPr>
              <a:t>5</a:t>
            </a:r>
            <a:endParaRPr lang="en-US" sz="1400" dirty="0"/>
          </a:p>
        </p:txBody>
      </p:sp>
      <p:sp>
        <p:nvSpPr>
          <p:cNvPr id="27" name="Text 25"/>
          <p:cNvSpPr txBox="1"/>
          <p:nvPr/>
        </p:nvSpPr>
        <p:spPr>
          <a:xfrm>
            <a:off x="1325880" y="5120640"/>
            <a:ext cx="2468880" cy="384048"/>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Replay mode</a:t>
            </a:r>
            <a:endParaRPr lang="en-US" sz="1600" dirty="0"/>
          </a:p>
        </p:txBody>
      </p:sp>
      <p:sp>
        <p:nvSpPr>
          <p:cNvPr id="28" name="Text 26"/>
          <p:cNvSpPr txBox="1"/>
          <p:nvPr/>
        </p:nvSpPr>
        <p:spPr>
          <a:xfrm>
            <a:off x="777240" y="5605272"/>
            <a:ext cx="2971800" cy="640080"/>
          </a:xfrm>
          <a:prstGeom prst="rect">
            <a:avLst/>
          </a:prstGeom>
          <a:noFill/>
          <a:ln/>
        </p:spPr>
        <p:txBody>
          <a:bodyPr wrap="square" lIns="0" tIns="0" rIns="0" bIns="0" rtlCol="0" anchor="t"/>
          <a:lstStyle/>
          <a:p>
            <a:pPr indent="0" marL="0">
              <a:buNone/>
            </a:pPr>
            <a:r>
              <a:rPr lang="en-US" sz="1300" dirty="0">
                <a:solidFill>
                  <a:srgbClr val="8B98A9"/>
                </a:solidFill>
                <a:latin typeface="Calibri" pitchFamily="34" charset="0"/>
                <a:ea typeface="Calibri" pitchFamily="34" charset="-122"/>
                <a:cs typeface="Calibri" pitchFamily="34" charset="-120"/>
              </a:rPr>
              <a:t>Any recorded run, step by step, with no API calls: a demo that survives quota limits.</a:t>
            </a:r>
            <a:endParaRPr lang="en-US" sz="1300" dirty="0"/>
          </a:p>
        </p:txBody>
      </p:sp>
      <p:sp>
        <p:nvSpPr>
          <p:cNvPr id="29" name="Shape 27"/>
          <p:cNvSpPr/>
          <p:nvPr/>
        </p:nvSpPr>
        <p:spPr>
          <a:xfrm>
            <a:off x="4251960" y="4892040"/>
            <a:ext cx="3429000" cy="1417320"/>
          </a:xfrm>
          <a:prstGeom prst="roundRect">
            <a:avLst>
              <a:gd name="adj" fmla="val 7742"/>
            </a:avLst>
          </a:prstGeom>
          <a:solidFill>
            <a:srgbClr val="161B26"/>
          </a:solidFill>
          <a:ln w="12700">
            <a:solidFill>
              <a:srgbClr val="2A3345"/>
            </a:solidFill>
            <a:prstDash val="solid"/>
          </a:ln>
        </p:spPr>
      </p:sp>
      <p:sp>
        <p:nvSpPr>
          <p:cNvPr id="30" name="Shape 28"/>
          <p:cNvSpPr/>
          <p:nvPr/>
        </p:nvSpPr>
        <p:spPr>
          <a:xfrm>
            <a:off x="4480560" y="5120640"/>
            <a:ext cx="384048" cy="384048"/>
          </a:xfrm>
          <a:prstGeom prst="ellipse">
            <a:avLst/>
          </a:prstGeom>
          <a:solidFill>
            <a:srgbClr val="7AA2F7"/>
          </a:solidFill>
          <a:ln/>
        </p:spPr>
      </p:sp>
      <p:sp>
        <p:nvSpPr>
          <p:cNvPr id="31" name="Text 29"/>
          <p:cNvSpPr txBox="1"/>
          <p:nvPr/>
        </p:nvSpPr>
        <p:spPr>
          <a:xfrm>
            <a:off x="4480560" y="5120640"/>
            <a:ext cx="384048" cy="384048"/>
          </a:xfrm>
          <a:prstGeom prst="rect">
            <a:avLst/>
          </a:prstGeom>
          <a:noFill/>
          <a:ln/>
        </p:spPr>
        <p:txBody>
          <a:bodyPr wrap="square" lIns="0" tIns="0" rIns="0" bIns="0" rtlCol="0" anchor="ctr"/>
          <a:lstStyle/>
          <a:p>
            <a:pPr algn="ctr" indent="0" marL="0">
              <a:buNone/>
            </a:pPr>
            <a:r>
              <a:rPr lang="en-US" sz="1400" b="1" dirty="0">
                <a:solidFill>
                  <a:srgbClr val="0E1117"/>
                </a:solidFill>
                <a:latin typeface="Arial" pitchFamily="34" charset="0"/>
                <a:ea typeface="Arial" pitchFamily="34" charset="-122"/>
                <a:cs typeface="Arial" pitchFamily="34" charset="-120"/>
              </a:rPr>
              <a:t>6</a:t>
            </a:r>
            <a:endParaRPr lang="en-US" sz="1400" dirty="0"/>
          </a:p>
        </p:txBody>
      </p:sp>
      <p:sp>
        <p:nvSpPr>
          <p:cNvPr id="32" name="Text 30"/>
          <p:cNvSpPr txBox="1"/>
          <p:nvPr/>
        </p:nvSpPr>
        <p:spPr>
          <a:xfrm>
            <a:off x="5029200" y="5120640"/>
            <a:ext cx="2468880" cy="384048"/>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Same story in the CLI</a:t>
            </a:r>
            <a:endParaRPr lang="en-US" sz="1600" dirty="0"/>
          </a:p>
        </p:txBody>
      </p:sp>
      <p:sp>
        <p:nvSpPr>
          <p:cNvPr id="33" name="Text 31"/>
          <p:cNvSpPr txBox="1"/>
          <p:nvPr/>
        </p:nvSpPr>
        <p:spPr>
          <a:xfrm>
            <a:off x="4480560" y="5605272"/>
            <a:ext cx="2971800" cy="640080"/>
          </a:xfrm>
          <a:prstGeom prst="rect">
            <a:avLst/>
          </a:prstGeom>
          <a:noFill/>
          <a:ln/>
        </p:spPr>
        <p:txBody>
          <a:bodyPr wrap="square" lIns="0" tIns="0" rIns="0" bIns="0" rtlCol="0" anchor="t"/>
          <a:lstStyle/>
          <a:p>
            <a:pPr indent="0" marL="0">
              <a:buNone/>
            </a:pPr>
            <a:r>
              <a:rPr lang="en-US" sz="1300" dirty="0">
                <a:solidFill>
                  <a:srgbClr val="8B98A9"/>
                </a:solidFill>
                <a:latin typeface="Calibri" pitchFamily="34" charset="0"/>
                <a:ea typeface="Calibri" pitchFamily="34" charset="-122"/>
                <a:cs typeface="Calibri" pitchFamily="34" charset="-120"/>
              </a:rPr>
              <a:t>The terminal prints the same events: PLAN, THINK, ACT, OBSERVE, VERIFY, CRITIQUE, LEARN.</a:t>
            </a:r>
            <a:endParaRPr lang="en-US" sz="1300" dirty="0"/>
          </a:p>
        </p:txBody>
      </p:sp>
      <p:sp>
        <p:nvSpPr>
          <p:cNvPr id="34" name="Shape 32"/>
          <p:cNvSpPr/>
          <p:nvPr/>
        </p:nvSpPr>
        <p:spPr>
          <a:xfrm>
            <a:off x="7955280" y="1508760"/>
            <a:ext cx="3687775" cy="4800600"/>
          </a:xfrm>
          <a:prstGeom prst="roundRect">
            <a:avLst>
              <a:gd name="adj" fmla="val 2975"/>
            </a:avLst>
          </a:prstGeom>
          <a:solidFill>
            <a:srgbClr val="1C2332"/>
          </a:solidFill>
          <a:ln w="12700">
            <a:solidFill>
              <a:srgbClr val="2A3345"/>
            </a:solidFill>
            <a:prstDash val="solid"/>
          </a:ln>
        </p:spPr>
      </p:sp>
      <p:sp>
        <p:nvSpPr>
          <p:cNvPr id="35" name="Text 33"/>
          <p:cNvSpPr txBox="1"/>
          <p:nvPr/>
        </p:nvSpPr>
        <p:spPr>
          <a:xfrm>
            <a:off x="8275320" y="1645920"/>
            <a:ext cx="2011680" cy="914400"/>
          </a:xfrm>
          <a:prstGeom prst="rect">
            <a:avLst/>
          </a:prstGeom>
          <a:noFill/>
          <a:ln/>
        </p:spPr>
        <p:txBody>
          <a:bodyPr wrap="square" lIns="0" tIns="0" rIns="0" bIns="0" rtlCol="0" anchor="ctr"/>
          <a:lstStyle/>
          <a:p>
            <a:pPr indent="0" marL="0">
              <a:buNone/>
            </a:pPr>
            <a:r>
              <a:rPr lang="en-US" sz="5400" b="1" dirty="0">
                <a:solidFill>
                  <a:srgbClr val="F5B83D"/>
                </a:solidFill>
                <a:latin typeface="Arial" pitchFamily="34" charset="0"/>
                <a:ea typeface="Arial" pitchFamily="34" charset="-122"/>
                <a:cs typeface="Arial" pitchFamily="34" charset="-120"/>
              </a:rPr>
              <a:t>6/6</a:t>
            </a:r>
            <a:endParaRPr lang="en-US" sz="5400" dirty="0"/>
          </a:p>
        </p:txBody>
      </p:sp>
      <p:sp>
        <p:nvSpPr>
          <p:cNvPr id="36" name="Text 34"/>
          <p:cNvSpPr txBox="1"/>
          <p:nvPr/>
        </p:nvSpPr>
        <p:spPr>
          <a:xfrm>
            <a:off x="8275320" y="2560320"/>
            <a:ext cx="3047695" cy="365760"/>
          </a:xfrm>
          <a:prstGeom prst="rect">
            <a:avLst/>
          </a:prstGeom>
          <a:noFill/>
          <a:ln/>
        </p:spPr>
        <p:txBody>
          <a:bodyPr wrap="square" lIns="0" tIns="0" rIns="0" bIns="0" rtlCol="0" anchor="ctr"/>
          <a:lstStyle/>
          <a:p>
            <a:pPr indent="0" marL="0">
              <a:buNone/>
            </a:pPr>
            <a:r>
              <a:rPr lang="en-US" sz="1400" dirty="0">
                <a:solidFill>
                  <a:srgbClr val="8B98A9"/>
                </a:solidFill>
                <a:latin typeface="Calibri" pitchFamily="34" charset="0"/>
                <a:ea typeface="Calibri" pitchFamily="34" charset="-122"/>
                <a:cs typeface="Calibri" pitchFamily="34" charset="-120"/>
              </a:rPr>
              <a:t>known failure cases caught by the check + critic</a:t>
            </a:r>
            <a:endParaRPr lang="en-US" sz="1400" dirty="0"/>
          </a:p>
        </p:txBody>
      </p:sp>
      <p:sp>
        <p:nvSpPr>
          <p:cNvPr id="37" name="Text 35"/>
          <p:cNvSpPr txBox="1"/>
          <p:nvPr/>
        </p:nvSpPr>
        <p:spPr>
          <a:xfrm>
            <a:off x="8275320" y="3017520"/>
            <a:ext cx="3047695" cy="26060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E6EDF3"/>
                </a:solidFill>
                <a:latin typeface="Calibri" pitchFamily="34" charset="0"/>
                <a:ea typeface="Calibri" pitchFamily="34" charset="-122"/>
                <a:cs typeface="Calibri" pitchFamily="34" charset="-120"/>
              </a:rPr>
              <a:t>Unit error: per 1M dimensions shown as per GB</a:t>
            </a:r>
            <a:endParaRPr lang="en-US" sz="1200" dirty="0"/>
          </a:p>
          <a:p>
            <a:pPr marL="177800" indent="-177800">
              <a:spcAft>
                <a:spcPts val="400"/>
              </a:spcAft>
              <a:buSzPct val="100000"/>
              <a:buChar char="•"/>
            </a:pPr>
            <a:r>
              <a:rPr lang="en-US" sz="1200" dirty="0">
                <a:solidFill>
                  <a:srgbClr val="E6EDF3"/>
                </a:solidFill>
                <a:latin typeface="Calibri" pitchFamily="34" charset="0"/>
                <a:ea typeface="Calibri" pitchFamily="34" charset="-122"/>
                <a:cs typeface="Calibri" pitchFamily="34" charset="-120"/>
              </a:rPr>
              <a:t>Contradiction: Qdrant "$25 minimum" vs "no minimum"</a:t>
            </a:r>
            <a:endParaRPr lang="en-US" sz="1200" dirty="0"/>
          </a:p>
          <a:p>
            <a:pPr marL="177800" indent="-177800">
              <a:spcAft>
                <a:spcPts val="400"/>
              </a:spcAft>
              <a:buSzPct val="100000"/>
              <a:buChar char="•"/>
            </a:pPr>
            <a:r>
              <a:rPr lang="en-US" sz="1200" dirty="0">
                <a:solidFill>
                  <a:srgbClr val="E6EDF3"/>
                </a:solidFill>
                <a:latin typeface="Calibri" pitchFamily="34" charset="0"/>
                <a:ea typeface="Calibri" pitchFamily="34" charset="-122"/>
                <a:cs typeface="Calibri" pitchFamily="34" charset="-120"/>
              </a:rPr>
              <a:t>Contradiction: Pinecone $16/M vs $0.00000025/RU</a:t>
            </a:r>
            <a:endParaRPr lang="en-US" sz="1200" dirty="0"/>
          </a:p>
          <a:p>
            <a:pPr marL="177800" indent="-177800">
              <a:spcAft>
                <a:spcPts val="400"/>
              </a:spcAft>
              <a:buSzPct val="100000"/>
              <a:buChar char="•"/>
            </a:pPr>
            <a:r>
              <a:rPr lang="en-US" sz="1200" dirty="0">
                <a:solidFill>
                  <a:srgbClr val="E6EDF3"/>
                </a:solidFill>
                <a:latin typeface="Calibri" pitchFamily="34" charset="0"/>
                <a:ea typeface="Calibri" pitchFamily="34" charset="-122"/>
                <a:cs typeface="Calibri" pitchFamily="34" charset="-120"/>
              </a:rPr>
              <a:t>Misattribution: $0.33 cited to a source without it</a:t>
            </a:r>
            <a:endParaRPr lang="en-US" sz="1200" dirty="0"/>
          </a:p>
          <a:p>
            <a:pPr marL="177800" indent="-177800">
              <a:spcAft>
                <a:spcPts val="400"/>
              </a:spcAft>
              <a:buSzPct val="100000"/>
              <a:buChar char="•"/>
            </a:pPr>
            <a:r>
              <a:rPr lang="en-US" sz="1200" dirty="0">
                <a:solidFill>
                  <a:srgbClr val="E6EDF3"/>
                </a:solidFill>
                <a:latin typeface="Calibri" pitchFamily="34" charset="0"/>
                <a:ea typeface="Calibri" pitchFamily="34" charset="-122"/>
                <a:cs typeface="Calibri" pitchFamily="34" charset="-120"/>
              </a:rPr>
              <a:t>Missed constraint: official page never fetched → fix-up step</a:t>
            </a:r>
            <a:endParaRPr lang="en-US" sz="1200" dirty="0"/>
          </a:p>
          <a:p>
            <a:pPr marL="177800" indent="-177800">
              <a:spcAft>
                <a:spcPts val="400"/>
              </a:spcAft>
              <a:buSzPct val="100000"/>
              <a:buChar char="•"/>
            </a:pPr>
            <a:r>
              <a:rPr lang="en-US" sz="1200" dirty="0">
                <a:solidFill>
                  <a:srgbClr val="E6EDF3"/>
                </a:solidFill>
                <a:latin typeface="Calibri" pitchFamily="34" charset="0"/>
                <a:ea typeface="Calibri" pitchFamily="34" charset="-122"/>
                <a:cs typeface="Calibri" pitchFamily="34" charset="-120"/>
              </a:rPr>
              <a:t>No false alarm: calculator result $3.30 not flagged</a:t>
            </a:r>
            <a:endParaRPr lang="en-US" sz="1200" dirty="0"/>
          </a:p>
        </p:txBody>
      </p:sp>
      <p:sp>
        <p:nvSpPr>
          <p:cNvPr id="38" name="Text 36"/>
          <p:cNvSpPr txBox="1"/>
          <p:nvPr/>
        </p:nvSpPr>
        <p:spPr>
          <a:xfrm>
            <a:off x="8275320" y="5760720"/>
            <a:ext cx="3047695" cy="365760"/>
          </a:xfrm>
          <a:prstGeom prst="rect">
            <a:avLst/>
          </a:prstGeom>
          <a:noFill/>
          <a:ln/>
        </p:spPr>
        <p:txBody>
          <a:bodyPr wrap="square" lIns="0" tIns="0" rIns="0" bIns="0" rtlCol="0" anchor="ctr"/>
          <a:lstStyle/>
          <a:p>
            <a:pPr indent="0" marL="0">
              <a:buNone/>
            </a:pPr>
            <a:r>
              <a:rPr lang="en-US" sz="1300" i="1" dirty="0">
                <a:solidFill>
                  <a:srgbClr val="3DDC97"/>
                </a:solidFill>
                <a:latin typeface="Calibri" pitchFamily="34" charset="0"/>
                <a:ea typeface="Calibri" pitchFamily="34" charset="-122"/>
                <a:cs typeface="Calibri" pitchFamily="34" charset="-120"/>
              </a:rPr>
              <a:t>+ clean control report accepted (8/10)</a:t>
            </a:r>
            <a:endParaRPr lang="en-US" sz="1300" dirty="0"/>
          </a:p>
        </p:txBody>
      </p:sp>
      <p:sp>
        <p:nvSpPr>
          <p:cNvPr id="39" name="Text 3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B98A9"/>
                </a:solidFill>
                <a:latin typeface="Calibri" pitchFamily="34" charset="0"/>
                <a:ea typeface="Calibri" pitchFamily="34" charset="-122"/>
                <a:cs typeface="Calibri" pitchFamily="34" charset="-120"/>
              </a:rPr>
              <a:t>Self-Improving Research Agent  ·  4 / 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320040"/>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TECH AND LIMITS</a:t>
            </a:r>
            <a:endParaRPr lang="en-US" sz="1300" dirty="0"/>
          </a:p>
        </p:txBody>
      </p:sp>
      <p:sp>
        <p:nvSpPr>
          <p:cNvPr id="3" name="Text 1"/>
          <p:cNvSpPr txBox="1"/>
          <p:nvPr/>
        </p:nvSpPr>
        <p:spPr>
          <a:xfrm>
            <a:off x="548640" y="640080"/>
            <a:ext cx="11094415" cy="685800"/>
          </a:xfrm>
          <a:prstGeom prst="rect">
            <a:avLst/>
          </a:prstGeom>
          <a:noFill/>
          <a:ln/>
        </p:spPr>
        <p:txBody>
          <a:bodyPr wrap="square" lIns="0" tIns="0" rIns="0" bIns="0" rtlCol="0" anchor="t"/>
          <a:lstStyle/>
          <a:p>
            <a:pPr indent="0" marL="0">
              <a:buNone/>
            </a:pPr>
            <a:r>
              <a:rPr lang="en-US" sz="3000" b="1" dirty="0">
                <a:solidFill>
                  <a:srgbClr val="E6EDF3"/>
                </a:solidFill>
                <a:latin typeface="Arial" pitchFamily="34" charset="0"/>
                <a:ea typeface="Arial" pitchFamily="34" charset="-122"/>
                <a:cs typeface="Arial" pitchFamily="34" charset="-120"/>
              </a:rPr>
              <a:t>Built entirely on free tiers, and what that costs</a:t>
            </a:r>
            <a:endParaRPr lang="en-US" sz="3000" dirty="0"/>
          </a:p>
        </p:txBody>
      </p:sp>
      <p:sp>
        <p:nvSpPr>
          <p:cNvPr id="4" name="Shape 2"/>
          <p:cNvSpPr/>
          <p:nvPr/>
        </p:nvSpPr>
        <p:spPr>
          <a:xfrm>
            <a:off x="548640" y="1463040"/>
            <a:ext cx="5410048" cy="3977640"/>
          </a:xfrm>
          <a:prstGeom prst="roundRect">
            <a:avLst>
              <a:gd name="adj" fmla="val 2759"/>
            </a:avLst>
          </a:prstGeom>
          <a:solidFill>
            <a:srgbClr val="161B26"/>
          </a:solidFill>
          <a:ln w="12700">
            <a:solidFill>
              <a:srgbClr val="2A3345"/>
            </a:solidFill>
            <a:prstDash val="solid"/>
          </a:ln>
        </p:spPr>
      </p:sp>
      <p:sp>
        <p:nvSpPr>
          <p:cNvPr id="5" name="Text 3"/>
          <p:cNvSpPr txBox="1"/>
          <p:nvPr/>
        </p:nvSpPr>
        <p:spPr>
          <a:xfrm>
            <a:off x="822960" y="1600200"/>
            <a:ext cx="4861408" cy="365760"/>
          </a:xfrm>
          <a:prstGeom prst="rect">
            <a:avLst/>
          </a:prstGeom>
          <a:noFill/>
          <a:ln/>
        </p:spPr>
        <p:txBody>
          <a:bodyPr wrap="square" lIns="0" tIns="0" rIns="0" bIns="0" rtlCol="0" anchor="ctr"/>
          <a:lstStyle/>
          <a:p>
            <a:pPr indent="0" marL="0">
              <a:buNone/>
            </a:pPr>
            <a:r>
              <a:rPr lang="en-US" sz="1800" b="1" dirty="0">
                <a:solidFill>
                  <a:srgbClr val="E6EDF3"/>
                </a:solidFill>
                <a:latin typeface="Calibri" pitchFamily="34" charset="0"/>
                <a:ea typeface="Calibri" pitchFamily="34" charset="-122"/>
                <a:cs typeface="Calibri" pitchFamily="34" charset="-120"/>
              </a:rPr>
              <a:t>Stack</a:t>
            </a:r>
            <a:endParaRPr lang="en-US" sz="1800" dirty="0"/>
          </a:p>
        </p:txBody>
      </p:sp>
      <p:sp>
        <p:nvSpPr>
          <p:cNvPr id="6" name="Shape 4"/>
          <p:cNvSpPr/>
          <p:nvPr/>
        </p:nvSpPr>
        <p:spPr>
          <a:xfrm>
            <a:off x="822960" y="2057400"/>
            <a:ext cx="1211580" cy="329184"/>
          </a:xfrm>
          <a:prstGeom prst="roundRect">
            <a:avLst>
              <a:gd name="adj" fmla="val 50000"/>
            </a:avLst>
          </a:prstGeom>
          <a:solidFill>
            <a:srgbClr val="1C2332"/>
          </a:solidFill>
          <a:ln w="12700">
            <a:solidFill>
              <a:srgbClr val="2A3345"/>
            </a:solidFill>
            <a:prstDash val="solid"/>
          </a:ln>
        </p:spPr>
      </p:sp>
      <p:sp>
        <p:nvSpPr>
          <p:cNvPr id="7" name="Text 5"/>
          <p:cNvSpPr txBox="1"/>
          <p:nvPr/>
        </p:nvSpPr>
        <p:spPr>
          <a:xfrm>
            <a:off x="822960" y="2057400"/>
            <a:ext cx="1211580" cy="329184"/>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Python 3.11</a:t>
            </a:r>
            <a:endParaRPr lang="en-US" sz="1200" dirty="0"/>
          </a:p>
        </p:txBody>
      </p:sp>
      <p:sp>
        <p:nvSpPr>
          <p:cNvPr id="8" name="Shape 6"/>
          <p:cNvSpPr/>
          <p:nvPr/>
        </p:nvSpPr>
        <p:spPr>
          <a:xfrm>
            <a:off x="2144268" y="2057400"/>
            <a:ext cx="1037844" cy="329184"/>
          </a:xfrm>
          <a:prstGeom prst="roundRect">
            <a:avLst>
              <a:gd name="adj" fmla="val 50000"/>
            </a:avLst>
          </a:prstGeom>
          <a:solidFill>
            <a:srgbClr val="1C2332"/>
          </a:solidFill>
          <a:ln w="12700">
            <a:solidFill>
              <a:srgbClr val="2A3345"/>
            </a:solidFill>
            <a:prstDash val="solid"/>
          </a:ln>
        </p:spPr>
      </p:sp>
      <p:sp>
        <p:nvSpPr>
          <p:cNvPr id="9" name="Text 7"/>
          <p:cNvSpPr txBox="1"/>
          <p:nvPr/>
        </p:nvSpPr>
        <p:spPr>
          <a:xfrm>
            <a:off x="2144268" y="2057400"/>
            <a:ext cx="1037844" cy="329184"/>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LangGraph</a:t>
            </a:r>
            <a:endParaRPr lang="en-US" sz="1200" dirty="0"/>
          </a:p>
        </p:txBody>
      </p:sp>
      <p:sp>
        <p:nvSpPr>
          <p:cNvPr id="10" name="Shape 8"/>
          <p:cNvSpPr/>
          <p:nvPr/>
        </p:nvSpPr>
        <p:spPr>
          <a:xfrm>
            <a:off x="3291840" y="2057400"/>
            <a:ext cx="2253996" cy="329184"/>
          </a:xfrm>
          <a:prstGeom prst="roundRect">
            <a:avLst>
              <a:gd name="adj" fmla="val 50000"/>
            </a:avLst>
          </a:prstGeom>
          <a:solidFill>
            <a:srgbClr val="1C2332"/>
          </a:solidFill>
          <a:ln w="12700">
            <a:solidFill>
              <a:srgbClr val="2A3345"/>
            </a:solidFill>
            <a:prstDash val="solid"/>
          </a:ln>
        </p:spPr>
      </p:sp>
      <p:sp>
        <p:nvSpPr>
          <p:cNvPr id="11" name="Text 9"/>
          <p:cNvSpPr txBox="1"/>
          <p:nvPr/>
        </p:nvSpPr>
        <p:spPr>
          <a:xfrm>
            <a:off x="3291840" y="2057400"/>
            <a:ext cx="2253996" cy="329184"/>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Groq gpt-oss-20b / 120b</a:t>
            </a:r>
            <a:endParaRPr lang="en-US" sz="1200" dirty="0"/>
          </a:p>
        </p:txBody>
      </p:sp>
      <p:sp>
        <p:nvSpPr>
          <p:cNvPr id="12" name="Shape 10"/>
          <p:cNvSpPr/>
          <p:nvPr/>
        </p:nvSpPr>
        <p:spPr>
          <a:xfrm>
            <a:off x="822960" y="2496312"/>
            <a:ext cx="1211580" cy="329184"/>
          </a:xfrm>
          <a:prstGeom prst="roundRect">
            <a:avLst>
              <a:gd name="adj" fmla="val 50000"/>
            </a:avLst>
          </a:prstGeom>
          <a:solidFill>
            <a:srgbClr val="1C2332"/>
          </a:solidFill>
          <a:ln w="12700">
            <a:solidFill>
              <a:srgbClr val="2A3345"/>
            </a:solidFill>
            <a:prstDash val="solid"/>
          </a:ln>
        </p:spPr>
      </p:sp>
      <p:sp>
        <p:nvSpPr>
          <p:cNvPr id="13" name="Text 11"/>
          <p:cNvSpPr txBox="1"/>
          <p:nvPr/>
        </p:nvSpPr>
        <p:spPr>
          <a:xfrm>
            <a:off x="822960" y="2496312"/>
            <a:ext cx="1211580" cy="329184"/>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qwen3.8-27b</a:t>
            </a:r>
            <a:endParaRPr lang="en-US" sz="1200" dirty="0"/>
          </a:p>
        </p:txBody>
      </p:sp>
      <p:sp>
        <p:nvSpPr>
          <p:cNvPr id="14" name="Shape 12"/>
          <p:cNvSpPr/>
          <p:nvPr/>
        </p:nvSpPr>
        <p:spPr>
          <a:xfrm>
            <a:off x="2144268" y="2496312"/>
            <a:ext cx="1124712" cy="329184"/>
          </a:xfrm>
          <a:prstGeom prst="roundRect">
            <a:avLst>
              <a:gd name="adj" fmla="val 50000"/>
            </a:avLst>
          </a:prstGeom>
          <a:solidFill>
            <a:srgbClr val="1C2332"/>
          </a:solidFill>
          <a:ln w="12700">
            <a:solidFill>
              <a:srgbClr val="2A3345"/>
            </a:solidFill>
            <a:prstDash val="solid"/>
          </a:ln>
        </p:spPr>
      </p:sp>
      <p:sp>
        <p:nvSpPr>
          <p:cNvPr id="15" name="Text 13"/>
          <p:cNvSpPr txBox="1"/>
          <p:nvPr/>
        </p:nvSpPr>
        <p:spPr>
          <a:xfrm>
            <a:off x="2144268" y="2496312"/>
            <a:ext cx="1124712" cy="329184"/>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NVIDIA NIM</a:t>
            </a:r>
            <a:endParaRPr lang="en-US" sz="1200" dirty="0"/>
          </a:p>
        </p:txBody>
      </p:sp>
      <p:sp>
        <p:nvSpPr>
          <p:cNvPr id="16" name="Shape 14"/>
          <p:cNvSpPr/>
          <p:nvPr/>
        </p:nvSpPr>
        <p:spPr>
          <a:xfrm>
            <a:off x="3378708" y="2496312"/>
            <a:ext cx="1645920" cy="329184"/>
          </a:xfrm>
          <a:prstGeom prst="roundRect">
            <a:avLst>
              <a:gd name="adj" fmla="val 50000"/>
            </a:avLst>
          </a:prstGeom>
          <a:solidFill>
            <a:srgbClr val="1C2332"/>
          </a:solidFill>
          <a:ln w="12700">
            <a:solidFill>
              <a:srgbClr val="2A3345"/>
            </a:solidFill>
            <a:prstDash val="solid"/>
          </a:ln>
        </p:spPr>
      </p:sp>
      <p:sp>
        <p:nvSpPr>
          <p:cNvPr id="17" name="Text 15"/>
          <p:cNvSpPr txBox="1"/>
          <p:nvPr/>
        </p:nvSpPr>
        <p:spPr>
          <a:xfrm>
            <a:off x="3378708" y="2496312"/>
            <a:ext cx="1645920" cy="329184"/>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Gemini 2.5 Flash</a:t>
            </a:r>
            <a:endParaRPr lang="en-US" sz="1200" dirty="0"/>
          </a:p>
        </p:txBody>
      </p:sp>
      <p:sp>
        <p:nvSpPr>
          <p:cNvPr id="18" name="Shape 16"/>
          <p:cNvSpPr/>
          <p:nvPr/>
        </p:nvSpPr>
        <p:spPr>
          <a:xfrm>
            <a:off x="822960" y="2935224"/>
            <a:ext cx="777240" cy="329184"/>
          </a:xfrm>
          <a:prstGeom prst="roundRect">
            <a:avLst>
              <a:gd name="adj" fmla="val 50000"/>
            </a:avLst>
          </a:prstGeom>
          <a:solidFill>
            <a:srgbClr val="1C2332"/>
          </a:solidFill>
          <a:ln w="12700">
            <a:solidFill>
              <a:srgbClr val="2A3345"/>
            </a:solidFill>
            <a:prstDash val="solid"/>
          </a:ln>
        </p:spPr>
      </p:sp>
      <p:sp>
        <p:nvSpPr>
          <p:cNvPr id="19" name="Text 17"/>
          <p:cNvSpPr txBox="1"/>
          <p:nvPr/>
        </p:nvSpPr>
        <p:spPr>
          <a:xfrm>
            <a:off x="822960" y="2935224"/>
            <a:ext cx="777240" cy="329184"/>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Tavily</a:t>
            </a:r>
            <a:endParaRPr lang="en-US" sz="1200" dirty="0"/>
          </a:p>
        </p:txBody>
      </p:sp>
      <p:sp>
        <p:nvSpPr>
          <p:cNvPr id="20" name="Shape 18"/>
          <p:cNvSpPr/>
          <p:nvPr/>
        </p:nvSpPr>
        <p:spPr>
          <a:xfrm>
            <a:off x="1709928" y="2935224"/>
            <a:ext cx="1385316" cy="329184"/>
          </a:xfrm>
          <a:prstGeom prst="roundRect">
            <a:avLst>
              <a:gd name="adj" fmla="val 50000"/>
            </a:avLst>
          </a:prstGeom>
          <a:solidFill>
            <a:srgbClr val="1C2332"/>
          </a:solidFill>
          <a:ln w="12700">
            <a:solidFill>
              <a:srgbClr val="2A3345"/>
            </a:solidFill>
            <a:prstDash val="solid"/>
          </a:ln>
        </p:spPr>
      </p:sp>
      <p:sp>
        <p:nvSpPr>
          <p:cNvPr id="21" name="Text 19"/>
          <p:cNvSpPr txBox="1"/>
          <p:nvPr/>
        </p:nvSpPr>
        <p:spPr>
          <a:xfrm>
            <a:off x="1709928" y="2935224"/>
            <a:ext cx="1385316" cy="329184"/>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SQLite + FTS5</a:t>
            </a:r>
            <a:endParaRPr lang="en-US" sz="1200" dirty="0"/>
          </a:p>
        </p:txBody>
      </p:sp>
      <p:sp>
        <p:nvSpPr>
          <p:cNvPr id="22" name="Shape 20"/>
          <p:cNvSpPr/>
          <p:nvPr/>
        </p:nvSpPr>
        <p:spPr>
          <a:xfrm>
            <a:off x="3204972" y="2935224"/>
            <a:ext cx="1559052" cy="329184"/>
          </a:xfrm>
          <a:prstGeom prst="roundRect">
            <a:avLst>
              <a:gd name="adj" fmla="val 50000"/>
            </a:avLst>
          </a:prstGeom>
          <a:solidFill>
            <a:srgbClr val="1C2332"/>
          </a:solidFill>
          <a:ln w="12700">
            <a:solidFill>
              <a:srgbClr val="2A3345"/>
            </a:solidFill>
            <a:prstDash val="solid"/>
          </a:ln>
        </p:spPr>
      </p:sp>
      <p:sp>
        <p:nvSpPr>
          <p:cNvPr id="23" name="Text 21"/>
          <p:cNvSpPr txBox="1"/>
          <p:nvPr/>
        </p:nvSpPr>
        <p:spPr>
          <a:xfrm>
            <a:off x="3204972" y="2935224"/>
            <a:ext cx="1559052" cy="329184"/>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Streamlit Cloud</a:t>
            </a:r>
            <a:endParaRPr lang="en-US" sz="1200" dirty="0"/>
          </a:p>
        </p:txBody>
      </p:sp>
      <p:sp>
        <p:nvSpPr>
          <p:cNvPr id="24" name="Text 22"/>
          <p:cNvSpPr txBox="1"/>
          <p:nvPr/>
        </p:nvSpPr>
        <p:spPr>
          <a:xfrm>
            <a:off x="822960" y="3429000"/>
            <a:ext cx="4861408" cy="365760"/>
          </a:xfrm>
          <a:prstGeom prst="rect">
            <a:avLst/>
          </a:prstGeom>
          <a:noFill/>
          <a:ln/>
        </p:spPr>
        <p:txBody>
          <a:bodyPr wrap="square" lIns="0" tIns="0" rIns="0" bIns="0" rtlCol="0" anchor="ctr"/>
          <a:lstStyle/>
          <a:p>
            <a:pPr indent="0" marL="0">
              <a:buNone/>
            </a:pPr>
            <a:r>
              <a:rPr lang="en-US" sz="1800" b="1" dirty="0">
                <a:solidFill>
                  <a:srgbClr val="E6EDF3"/>
                </a:solidFill>
                <a:latin typeface="Calibri" pitchFamily="34" charset="0"/>
                <a:ea typeface="Calibri" pitchFamily="34" charset="-122"/>
                <a:cs typeface="Calibri" pitchFamily="34" charset="-120"/>
              </a:rPr>
              <a:t>Resilience</a:t>
            </a:r>
            <a:endParaRPr lang="en-US" sz="1800" dirty="0"/>
          </a:p>
        </p:txBody>
      </p:sp>
      <p:sp>
        <p:nvSpPr>
          <p:cNvPr id="25" name="Text 23"/>
          <p:cNvSpPr txBox="1"/>
          <p:nvPr/>
        </p:nvSpPr>
        <p:spPr>
          <a:xfrm>
            <a:off x="822960" y="3840480"/>
            <a:ext cx="4861408" cy="146304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8B98A9"/>
                </a:solidFill>
                <a:latin typeface="Calibri" pitchFamily="34" charset="0"/>
                <a:ea typeface="Calibri" pitchFamily="34" charset="-122"/>
                <a:cs typeface="Calibri" pitchFamily="34" charset="-120"/>
              </a:rPr>
              <a:t>5-model fallback chain across separate free quotas</a:t>
            </a:r>
            <a:endParaRPr lang="en-US" sz="1400" dirty="0"/>
          </a:p>
          <a:p>
            <a:pPr marL="177800" indent="-177800">
              <a:spcAft>
                <a:spcPts val="400"/>
              </a:spcAft>
              <a:buSzPct val="100000"/>
              <a:buChar char="•"/>
            </a:pPr>
            <a:r>
              <a:rPr lang="en-US" sz="1400" dirty="0">
                <a:solidFill>
                  <a:srgbClr val="8B98A9"/>
                </a:solidFill>
                <a:latin typeface="Calibri" pitchFamily="34" charset="0"/>
                <a:ea typeface="Calibri" pitchFamily="34" charset="-122"/>
                <a:cs typeface="Calibri" pitchFamily="34" charset="-120"/>
              </a:rPr>
              <a:t>Rate-limit retry using the provider's wait time</a:t>
            </a:r>
            <a:endParaRPr lang="en-US" sz="1400" dirty="0"/>
          </a:p>
          <a:p>
            <a:pPr marL="177800" indent="-177800">
              <a:spcAft>
                <a:spcPts val="400"/>
              </a:spcAft>
              <a:buSzPct val="100000"/>
              <a:buChar char="•"/>
            </a:pPr>
            <a:r>
              <a:rPr lang="en-US" sz="1400" dirty="0">
                <a:solidFill>
                  <a:srgbClr val="8B98A9"/>
                </a:solidFill>
                <a:latin typeface="Calibri" pitchFamily="34" charset="0"/>
                <a:ea typeface="Calibri" pitchFamily="34" charset="-122"/>
                <a:cs typeface="Calibri" pitchFamily="34" charset="-120"/>
              </a:rPr>
              <a:t>Graceful stop with a partial report, never a crash</a:t>
            </a:r>
            <a:endParaRPr lang="en-US" sz="1400" dirty="0"/>
          </a:p>
          <a:p>
            <a:pPr marL="177800" indent="-177800">
              <a:spcAft>
                <a:spcPts val="400"/>
              </a:spcAft>
              <a:buSzPct val="100000"/>
              <a:buChar char="•"/>
            </a:pPr>
            <a:r>
              <a:rPr lang="en-US" sz="1400" dirty="0">
                <a:solidFill>
                  <a:srgbClr val="8B98A9"/>
                </a:solidFill>
                <a:latin typeface="Calibri" pitchFamily="34" charset="0"/>
                <a:ea typeface="Calibri" pitchFamily="34" charset="-122"/>
                <a:cs typeface="Calibri" pitchFamily="34" charset="-120"/>
              </a:rPr>
              <a:t>Public demo capped at 15 live runs a day · 81 unit tests</a:t>
            </a:r>
            <a:endParaRPr lang="en-US" sz="1400" dirty="0"/>
          </a:p>
        </p:txBody>
      </p:sp>
      <p:sp>
        <p:nvSpPr>
          <p:cNvPr id="26" name="Shape 24"/>
          <p:cNvSpPr/>
          <p:nvPr/>
        </p:nvSpPr>
        <p:spPr>
          <a:xfrm>
            <a:off x="6233008" y="1463040"/>
            <a:ext cx="5410048" cy="3977640"/>
          </a:xfrm>
          <a:prstGeom prst="roundRect">
            <a:avLst>
              <a:gd name="adj" fmla="val 2759"/>
            </a:avLst>
          </a:prstGeom>
          <a:solidFill>
            <a:srgbClr val="161B26"/>
          </a:solidFill>
          <a:ln w="12700">
            <a:solidFill>
              <a:srgbClr val="2A3345"/>
            </a:solidFill>
            <a:prstDash val="solid"/>
          </a:ln>
        </p:spPr>
      </p:sp>
      <p:sp>
        <p:nvSpPr>
          <p:cNvPr id="27" name="Text 25"/>
          <p:cNvSpPr txBox="1"/>
          <p:nvPr/>
        </p:nvSpPr>
        <p:spPr>
          <a:xfrm>
            <a:off x="6507328" y="1600200"/>
            <a:ext cx="4861408" cy="365760"/>
          </a:xfrm>
          <a:prstGeom prst="rect">
            <a:avLst/>
          </a:prstGeom>
          <a:noFill/>
          <a:ln/>
        </p:spPr>
        <p:txBody>
          <a:bodyPr wrap="square" lIns="0" tIns="0" rIns="0" bIns="0" rtlCol="0" anchor="ctr"/>
          <a:lstStyle/>
          <a:p>
            <a:pPr indent="0" marL="0">
              <a:buNone/>
            </a:pPr>
            <a:r>
              <a:rPr lang="en-US" sz="1800" b="1" dirty="0">
                <a:solidFill>
                  <a:srgbClr val="F5B83D"/>
                </a:solidFill>
                <a:latin typeface="Calibri" pitchFamily="34" charset="0"/>
                <a:ea typeface="Calibri" pitchFamily="34" charset="-122"/>
                <a:cs typeface="Calibri" pitchFamily="34" charset="-120"/>
              </a:rPr>
              <a:t>Limits</a:t>
            </a:r>
            <a:endParaRPr lang="en-US" sz="1800" dirty="0"/>
          </a:p>
        </p:txBody>
      </p:sp>
      <p:sp>
        <p:nvSpPr>
          <p:cNvPr id="28" name="Text 26"/>
          <p:cNvSpPr txBox="1"/>
          <p:nvPr/>
        </p:nvSpPr>
        <p:spPr>
          <a:xfrm>
            <a:off x="6507328" y="2057400"/>
            <a:ext cx="4861408" cy="2377440"/>
          </a:xfrm>
          <a:prstGeom prst="rect">
            <a:avLst/>
          </a:prstGeom>
          <a:noFill/>
          <a:ln/>
        </p:spPr>
        <p:txBody>
          <a:bodyPr wrap="square" lIns="0" tIns="0" rIns="0" bIns="0" rtlCol="0" anchor="t"/>
          <a:lstStyle/>
          <a:p>
            <a:pPr marL="342900" indent="-342900">
              <a:spcAft>
                <a:spcPts val="600"/>
              </a:spcAft>
              <a:buSzPct val="100000"/>
              <a:buChar char="•"/>
            </a:pPr>
            <a:r>
              <a:rPr lang="en-US" sz="1400" b="1" dirty="0">
                <a:solidFill>
                  <a:srgbClr val="E6EDF3"/>
                </a:solidFill>
                <a:latin typeface="Calibri" pitchFamily="34" charset="0"/>
                <a:ea typeface="Calibri" pitchFamily="34" charset="-122"/>
                <a:cs typeface="Calibri" pitchFamily="34" charset="-120"/>
              </a:rPr>
              <a:t>Quotas: </a:t>
            </a:r>
            <a:pPr indent="0" marL="0">
              <a:spcAft>
                <a:spcPts val="600"/>
              </a:spcAft>
              <a:buNone/>
            </a:pPr>
            <a:r>
              <a:rPr lang="en-US" sz="1400" dirty="0">
                <a:solidFill>
                  <a:srgbClr val="8B98A9"/>
                </a:solidFill>
                <a:latin typeface="Calibri" pitchFamily="34" charset="0"/>
                <a:ea typeface="Calibri" pitchFamily="34" charset="-122"/>
                <a:cs typeface="Calibri" pitchFamily="34" charset="-120"/>
              </a:rPr>
              <a:t>Groq ≈ 200k tokens/day per model; a broad comparison costs 70-100k</a:t>
            </a:r>
            <a:endParaRPr lang="en-US" sz="1400" dirty="0"/>
          </a:p>
          <a:p>
            <a:pPr marL="342900" indent="-342900">
              <a:spcAft>
                <a:spcPts val="600"/>
              </a:spcAft>
              <a:buSzPct val="100000"/>
              <a:buChar char="•"/>
            </a:pPr>
            <a:r>
              <a:rPr lang="en-US" sz="1400" b="1" dirty="0">
                <a:solidFill>
                  <a:srgbClr val="E6EDF3"/>
                </a:solidFill>
                <a:latin typeface="Calibri" pitchFamily="34" charset="0"/>
                <a:ea typeface="Calibri" pitchFamily="34" charset="-122"/>
                <a:cs typeface="Calibri" pitchFamily="34" charset="-120"/>
              </a:rPr>
              <a:t>Small models: </a:t>
            </a:r>
            <a:pPr indent="0" marL="0">
              <a:spcAft>
                <a:spcPts val="600"/>
              </a:spcAft>
              <a:buNone/>
            </a:pPr>
            <a:r>
              <a:rPr lang="en-US" sz="1400" dirty="0">
                <a:solidFill>
                  <a:srgbClr val="8B98A9"/>
                </a:solidFill>
                <a:latin typeface="Calibri" pitchFamily="34" charset="0"/>
                <a:ea typeface="Calibri" pitchFamily="34" charset="-122"/>
                <a:cs typeface="Calibri" pitchFamily="34" charset="-120"/>
              </a:rPr>
              <a:t>gpt-oss-20b rarely fetches pages without memory</a:t>
            </a:r>
            <a:endParaRPr lang="en-US" sz="1400" dirty="0"/>
          </a:p>
          <a:p>
            <a:pPr marL="342900" indent="-342900">
              <a:spcAft>
                <a:spcPts val="600"/>
              </a:spcAft>
              <a:buSzPct val="100000"/>
              <a:buChar char="•"/>
            </a:pPr>
            <a:r>
              <a:rPr lang="en-US" sz="1400" b="1" dirty="0">
                <a:solidFill>
                  <a:srgbClr val="E6EDF3"/>
                </a:solidFill>
                <a:latin typeface="Calibri" pitchFamily="34" charset="0"/>
                <a:ea typeface="Calibri" pitchFamily="34" charset="-122"/>
                <a:cs typeface="Calibri" pitchFamily="34" charset="-120"/>
              </a:rPr>
              <a:t>Evidence: </a:t>
            </a:r>
            <a:pPr indent="0" marL="0">
              <a:spcAft>
                <a:spcPts val="600"/>
              </a:spcAft>
              <a:buNone/>
            </a:pPr>
            <a:r>
              <a:rPr lang="en-US" sz="1400" dirty="0">
                <a:solidFill>
                  <a:srgbClr val="8B98A9"/>
                </a:solidFill>
                <a:latin typeface="Calibri" pitchFamily="34" charset="0"/>
                <a:ea typeface="Calibri" pitchFamily="34" charset="-122"/>
                <a:cs typeface="Calibri" pitchFamily="34" charset="-120"/>
              </a:rPr>
              <a:t>one task family, four runs; a demonstration, not a benchmark</a:t>
            </a:r>
            <a:endParaRPr lang="en-US" sz="1400" dirty="0"/>
          </a:p>
          <a:p>
            <a:pPr marL="342900" indent="-342900">
              <a:spcAft>
                <a:spcPts val="600"/>
              </a:spcAft>
              <a:buSzPct val="100000"/>
              <a:buChar char="•"/>
            </a:pPr>
            <a:r>
              <a:rPr lang="en-US" sz="1400" b="1" dirty="0">
                <a:solidFill>
                  <a:srgbClr val="E6EDF3"/>
                </a:solidFill>
                <a:latin typeface="Calibri" pitchFamily="34" charset="0"/>
                <a:ea typeface="Calibri" pitchFamily="34" charset="-122"/>
                <a:cs typeface="Calibri" pitchFamily="34" charset="-120"/>
              </a:rPr>
              <a:t>Recall: </a:t>
            </a:r>
            <a:pPr indent="0" marL="0">
              <a:spcAft>
                <a:spcPts val="600"/>
              </a:spcAft>
              <a:buNone/>
            </a:pPr>
            <a:r>
              <a:rPr lang="en-US" sz="1400" dirty="0">
                <a:solidFill>
                  <a:srgbClr val="8B98A9"/>
                </a:solidFill>
                <a:latin typeface="Calibri" pitchFamily="34" charset="0"/>
                <a:ea typeface="Calibri" pitchFamily="34" charset="-122"/>
                <a:cs typeface="Calibri" pitchFamily="34" charset="-120"/>
              </a:rPr>
              <a:t>keyword-based (FTS5), not semantic</a:t>
            </a:r>
            <a:endParaRPr lang="en-US" sz="1400" dirty="0"/>
          </a:p>
          <a:p>
            <a:pPr marL="342900" indent="-342900">
              <a:spcAft>
                <a:spcPts val="600"/>
              </a:spcAft>
              <a:buSzPct val="100000"/>
              <a:buChar char="•"/>
            </a:pPr>
            <a:r>
              <a:rPr lang="en-US" sz="1400" b="1" dirty="0">
                <a:solidFill>
                  <a:srgbClr val="E6EDF3"/>
                </a:solidFill>
                <a:latin typeface="Calibri" pitchFamily="34" charset="0"/>
                <a:ea typeface="Calibri" pitchFamily="34" charset="-122"/>
                <a:cs typeface="Calibri" pitchFamily="34" charset="-120"/>
              </a:rPr>
              <a:t>Demo: </a:t>
            </a:r>
            <a:pPr indent="0" marL="0">
              <a:spcAft>
                <a:spcPts val="600"/>
              </a:spcAft>
              <a:buNone/>
            </a:pPr>
            <a:r>
              <a:rPr lang="en-US" sz="1400" dirty="0">
                <a:solidFill>
                  <a:srgbClr val="8B98A9"/>
                </a:solidFill>
                <a:latin typeface="Calibri" pitchFamily="34" charset="0"/>
                <a:ea typeface="Calibri" pitchFamily="34" charset="-122"/>
                <a:cs typeface="Calibri" pitchFamily="34" charset="-120"/>
              </a:rPr>
              <a:t>memory is shared by all visitors and resets on restart</a:t>
            </a:r>
            <a:endParaRPr lang="en-US" sz="1400" dirty="0"/>
          </a:p>
        </p:txBody>
      </p:sp>
      <p:sp>
        <p:nvSpPr>
          <p:cNvPr id="29" name="Text 27"/>
          <p:cNvSpPr txBox="1"/>
          <p:nvPr/>
        </p:nvSpPr>
        <p:spPr>
          <a:xfrm>
            <a:off x="6507328" y="4526280"/>
            <a:ext cx="4861408" cy="7772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Next: </a:t>
            </a:r>
            <a:pPr indent="0" marL="0">
              <a:buNone/>
            </a:pPr>
            <a:r>
              <a:rPr lang="en-US" sz="1400" dirty="0">
                <a:solidFill>
                  <a:srgbClr val="8B98A9"/>
                </a:solidFill>
                <a:latin typeface="Calibri" pitchFamily="34" charset="0"/>
                <a:ea typeface="Calibri" pitchFamily="34" charset="-122"/>
                <a:cs typeface="Calibri" pitchFamily="34" charset="-120"/>
              </a:rPr>
              <a:t>semantic recall, pruning lessons by helpfulness, scheduled re-checks of trusted sources</a:t>
            </a:r>
            <a:endParaRPr lang="en-US" sz="1400" dirty="0"/>
          </a:p>
        </p:txBody>
      </p:sp>
      <p:sp>
        <p:nvSpPr>
          <p:cNvPr id="30" name="Text 28"/>
          <p:cNvSpPr txBox="1"/>
          <p:nvPr/>
        </p:nvSpPr>
        <p:spPr>
          <a:xfrm>
            <a:off x="548640" y="5623560"/>
            <a:ext cx="11094415" cy="365760"/>
          </a:xfrm>
          <a:prstGeom prst="rect">
            <a:avLst/>
          </a:prstGeom>
          <a:noFill/>
          <a:ln/>
        </p:spPr>
        <p:txBody>
          <a:bodyPr wrap="square" lIns="0" tIns="0" rIns="0" bIns="0" rtlCol="0" anchor="ctr"/>
          <a:lstStyle/>
          <a:p>
            <a:pPr indent="0" marL="0">
              <a:buNone/>
            </a:pPr>
            <a:r>
              <a:rPr lang="en-US" sz="1400" b="1" dirty="0">
                <a:solidFill>
                  <a:srgbClr val="3DDC97"/>
                </a:solidFill>
                <a:latin typeface="Calibri" pitchFamily="34" charset="0"/>
                <a:ea typeface="Calibri" pitchFamily="34" charset="-122"/>
                <a:cs typeface="Calibri" pitchFamily="34" charset="-120"/>
              </a:rPr>
              <a:t>Live  </a:t>
            </a:r>
            <a:pPr indent="0" marL="0">
              <a:buNone/>
            </a:pPr>
            <a:r>
              <a:rPr lang="en-US" sz="1400" u="sng" dirty="0">
                <a:solidFill>
                  <a:srgbClr val="E6EDF3"/>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asad-research-agent.streamlit.app</a:t>
            </a:r>
            <a:pPr indent="0" marL="0">
              <a:buNone/>
            </a:pPr>
            <a:r>
              <a:rPr lang="en-US" sz="1400" b="1" dirty="0">
                <a:solidFill>
                  <a:srgbClr val="3DDC97"/>
                </a:solidFill>
                <a:latin typeface="Calibri" pitchFamily="34" charset="0"/>
                <a:ea typeface="Calibri" pitchFamily="34" charset="-122"/>
                <a:cs typeface="Calibri" pitchFamily="34" charset="-120"/>
              </a:rPr>
              <a:t>      Code  </a:t>
            </a:r>
            <a:pPr indent="0" marL="0">
              <a:buNone/>
            </a:pPr>
            <a:r>
              <a:rPr lang="en-US" sz="1400" u="sng" dirty="0">
                <a:solidFill>
                  <a:srgbClr val="E6EDF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github.com/shaikasadahmed2k23/self-improving-research-agent_Submission</a:t>
            </a:r>
            <a:endParaRPr lang="en-US" sz="1400" dirty="0"/>
          </a:p>
        </p:txBody>
      </p:sp>
      <p:sp>
        <p:nvSpPr>
          <p:cNvPr id="31" name="Text 29"/>
          <p:cNvSpPr txBox="1"/>
          <p:nvPr/>
        </p:nvSpPr>
        <p:spPr>
          <a:xfrm>
            <a:off x="548640" y="5989320"/>
            <a:ext cx="11094415" cy="320040"/>
          </a:xfrm>
          <a:prstGeom prst="rect">
            <a:avLst/>
          </a:prstGeom>
          <a:noFill/>
          <a:ln/>
        </p:spPr>
        <p:txBody>
          <a:bodyPr wrap="square" lIns="0" tIns="0" rIns="0" bIns="0" rtlCol="0" anchor="ctr"/>
          <a:lstStyle/>
          <a:p>
            <a:pPr indent="0" marL="0">
              <a:buNone/>
            </a:pPr>
            <a:r>
              <a:rPr lang="en-US" sz="1200" i="1" dirty="0">
                <a:solidFill>
                  <a:srgbClr val="8B98A9"/>
                </a:solidFill>
                <a:latin typeface="Calibri" pitchFamily="34" charset="0"/>
                <a:ea typeface="Calibri" pitchFamily="34" charset="-122"/>
                <a:cs typeface="Calibri" pitchFamily="34" charset="-120"/>
              </a:rPr>
              <a:t>Built with Claude Code as a coding assistant. All APIs used on free tiers (Groq, Gemini, Tavily, NVIDIA NIM).</a:t>
            </a:r>
            <a:endParaRPr lang="en-US" sz="1200" dirty="0"/>
          </a:p>
        </p:txBody>
      </p:sp>
      <p:sp>
        <p:nvSpPr>
          <p:cNvPr id="32" name="Text 3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B98A9"/>
                </a:solidFill>
                <a:latin typeface="Calibri" pitchFamily="34" charset="0"/>
                <a:ea typeface="Calibri" pitchFamily="34" charset="-122"/>
                <a:cs typeface="Calibri" pitchFamily="34" charset="-120"/>
              </a:rPr>
              <a:t>Self-Improving Research Agent  ·  5 / 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Self-Improving Research Agent</dc:title>
  <dc:subject>PptxGenJS Presentation</dc:subject>
  <dc:creator>shaikasadahmed2k23</dc:creator>
  <cp:lastModifiedBy>shaikasadahmed2k23</cp:lastModifiedBy>
  <cp:revision>1</cp:revision>
  <dcterms:created xsi:type="dcterms:W3CDTF">2026-09-26T08:32:17Z</dcterms:created>
  <dcterms:modified xsi:type="dcterms:W3CDTF">2026-09-26T08:32:17Z</dcterms:modified>
</cp:coreProperties>
</file>